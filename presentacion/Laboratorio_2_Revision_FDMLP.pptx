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950f6eae2b143d1" /><Relationship Type="http://schemas.openxmlformats.org/officeDocument/2006/relationships/extended-properties" Target="/docProps/app.xml" Id="R4291053609894728" /><Relationship Type="http://schemas.openxmlformats.org/officeDocument/2006/relationships/officeDocument" Target="/ppt/presentation.xml" Id="Rb7bf9d4a7a854f75" /></Relationships>
</file>

<file path=ppt/presentation.xml><?xml version="1.0" encoding="utf-8"?>
<p:presentation xmlns:p="http://schemas.openxmlformats.org/presentationml/2006/main">
  <p:sldMasterIdLst>
    <p:sldMasterId xmlns:r="http://schemas.openxmlformats.org/officeDocument/2006/relationships" id="2147483648" r:id="Rfc7b0eabf85b4673"/>
  </p:sldMasterIdLst>
  <p:notesMasterIdLst>
    <p:notesMasterId xmlns:r="http://schemas.openxmlformats.org/officeDocument/2006/relationships" r:id="R142d8fb8ed0048a9"/>
  </p:notesMasterIdLst>
  <p:sldIdLst>
    <p:sldId xmlns:r="http://schemas.openxmlformats.org/officeDocument/2006/relationships" id="256" r:id="R4c5d5c39ebaf4cc3"/>
    <p:sldId xmlns:r="http://schemas.openxmlformats.org/officeDocument/2006/relationships" id="257" r:id="R4f9f2e971e9e4779"/>
    <p:sldId xmlns:r="http://schemas.openxmlformats.org/officeDocument/2006/relationships" id="258" r:id="Ra9e8e0108b6e43d3"/>
    <p:sldId xmlns:r="http://schemas.openxmlformats.org/officeDocument/2006/relationships" id="259" r:id="Rc6795a5fecd54fc0"/>
    <p:sldId xmlns:r="http://schemas.openxmlformats.org/officeDocument/2006/relationships" id="260" r:id="R4a179445bda843fb"/>
    <p:sldId xmlns:r="http://schemas.openxmlformats.org/officeDocument/2006/relationships" id="261" r:id="R31e3140d16a84d63"/>
    <p:sldId xmlns:r="http://schemas.openxmlformats.org/officeDocument/2006/relationships" id="262" r:id="R77c400f13484485c"/>
    <p:sldId xmlns:r="http://schemas.openxmlformats.org/officeDocument/2006/relationships" id="263" r:id="Rb0e3f3d21c7f42cf"/>
    <p:sldId xmlns:r="http://schemas.openxmlformats.org/officeDocument/2006/relationships" id="264" r:id="Rb266e5dabca24f62"/>
    <p:sldId xmlns:r="http://schemas.openxmlformats.org/officeDocument/2006/relationships" id="265" r:id="R4238fc9ec8834ffa"/>
    <p:sldId xmlns:r="http://schemas.openxmlformats.org/officeDocument/2006/relationships" id="266" r:id="Rd78f05fad4084355"/>
    <p:sldId xmlns:r="http://schemas.openxmlformats.org/officeDocument/2006/relationships" id="267" r:id="Rc763ec020c1046cf"/>
    <p:sldId xmlns:r="http://schemas.openxmlformats.org/officeDocument/2006/relationships" id="268" r:id="Ra55455d4efe545d1"/>
    <p:sldId xmlns:r="http://schemas.openxmlformats.org/officeDocument/2006/relationships" id="269" r:id="Rc386798e66aa42c5"/>
    <p:sldId xmlns:r="http://schemas.openxmlformats.org/officeDocument/2006/relationships" id="270" r:id="R83294824f1e34ecc"/>
    <p:sldId xmlns:r="http://schemas.openxmlformats.org/officeDocument/2006/relationships" id="271" r:id="R970dc11a779a4563"/>
    <p:sldId xmlns:r="http://schemas.openxmlformats.org/officeDocument/2006/relationships" id="272" r:id="R8eb0a5e5e1774969"/>
    <p:sldId xmlns:r="http://schemas.openxmlformats.org/officeDocument/2006/relationships" id="273" r:id="Rd50f1b34677649e6"/>
    <p:sldId xmlns:r="http://schemas.openxmlformats.org/officeDocument/2006/relationships" id="274" r:id="Re8e8b97bb6f64438"/>
    <p:sldId xmlns:r="http://schemas.openxmlformats.org/officeDocument/2006/relationships" id="275" r:id="Rd29de7a9e6e744b4"/>
    <p:sldId xmlns:r="http://schemas.openxmlformats.org/officeDocument/2006/relationships" id="276" r:id="R5a4451f035504e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8e8533d6684eeb" /><Relationship Type="http://schemas.openxmlformats.org/officeDocument/2006/relationships/slideMaster" Target="/ppt/slideMasters/slideMaster1.xml" Id="Rfc7b0eabf85b4673" /><Relationship Type="http://schemas.openxmlformats.org/officeDocument/2006/relationships/notesMaster" Target="/ppt/notesMasters/notesMaster1.xml" Id="R142d8fb8ed0048a9" /><Relationship Type="http://schemas.openxmlformats.org/officeDocument/2006/relationships/presProps" Target="/ppt/presProps.xml" Id="R11959486b596407e" /><Relationship Type="http://schemas.openxmlformats.org/officeDocument/2006/relationships/tableStyles" Target="/ppt/tableStyles.xml" Id="Rac0c63b7b5fb4aa7" /><Relationship Type="http://schemas.openxmlformats.org/officeDocument/2006/relationships/slide" Target="/ppt/slides/slide1.xml" Id="R4c5d5c39ebaf4cc3" /><Relationship Type="http://schemas.openxmlformats.org/officeDocument/2006/relationships/slide" Target="/ppt/slides/slide2.xml" Id="R4f9f2e971e9e4779" /><Relationship Type="http://schemas.openxmlformats.org/officeDocument/2006/relationships/slide" Target="/ppt/slides/slide3.xml" Id="Ra9e8e0108b6e43d3" /><Relationship Type="http://schemas.openxmlformats.org/officeDocument/2006/relationships/slide" Target="/ppt/slides/slide4.xml" Id="Rc6795a5fecd54fc0" /><Relationship Type="http://schemas.openxmlformats.org/officeDocument/2006/relationships/slide" Target="/ppt/slides/slide5.xml" Id="R4a179445bda843fb" /><Relationship Type="http://schemas.openxmlformats.org/officeDocument/2006/relationships/slide" Target="/ppt/slides/slide6.xml" Id="R31e3140d16a84d63" /><Relationship Type="http://schemas.openxmlformats.org/officeDocument/2006/relationships/slide" Target="/ppt/slides/slide7.xml" Id="R77c400f13484485c" /><Relationship Type="http://schemas.openxmlformats.org/officeDocument/2006/relationships/slide" Target="/ppt/slides/slide8.xml" Id="Rb0e3f3d21c7f42cf" /><Relationship Type="http://schemas.openxmlformats.org/officeDocument/2006/relationships/slide" Target="/ppt/slides/slide9.xml" Id="Rb266e5dabca24f62" /><Relationship Type="http://schemas.openxmlformats.org/officeDocument/2006/relationships/slide" Target="/ppt/slides/slide10.xml" Id="R4238fc9ec8834ffa" /><Relationship Type="http://schemas.openxmlformats.org/officeDocument/2006/relationships/slide" Target="/ppt/slides/slide11.xml" Id="Rd78f05fad4084355" /><Relationship Type="http://schemas.openxmlformats.org/officeDocument/2006/relationships/slide" Target="/ppt/slides/slide12.xml" Id="Rc763ec020c1046cf" /><Relationship Type="http://schemas.openxmlformats.org/officeDocument/2006/relationships/slide" Target="/ppt/slides/slide13.xml" Id="Ra55455d4efe545d1" /><Relationship Type="http://schemas.openxmlformats.org/officeDocument/2006/relationships/slide" Target="/ppt/slides/slide14.xml" Id="Rc386798e66aa42c5" /><Relationship Type="http://schemas.openxmlformats.org/officeDocument/2006/relationships/slide" Target="/ppt/slides/slide15.xml" Id="R83294824f1e34ecc" /><Relationship Type="http://schemas.openxmlformats.org/officeDocument/2006/relationships/slide" Target="/ppt/slides/slide16.xml" Id="R970dc11a779a4563" /><Relationship Type="http://schemas.openxmlformats.org/officeDocument/2006/relationships/slide" Target="/ppt/slides/slide17.xml" Id="R8eb0a5e5e1774969" /><Relationship Type="http://schemas.openxmlformats.org/officeDocument/2006/relationships/slide" Target="/ppt/slides/slide18.xml" Id="Rd50f1b34677649e6" /><Relationship Type="http://schemas.openxmlformats.org/officeDocument/2006/relationships/slide" Target="/ppt/slides/slide19.xml" Id="Re8e8b97bb6f64438" /><Relationship Type="http://schemas.openxmlformats.org/officeDocument/2006/relationships/slide" Target="/ppt/slides/slide20.xml" Id="Rd29de7a9e6e744b4" /><Relationship Type="http://schemas.openxmlformats.org/officeDocument/2006/relationships/slide" Target="/ppt/slides/slide21.xml" Id="R5a4451f035504e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d5be5721b649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8aafed0aca41c0" /><Relationship Type="http://schemas.openxmlformats.org/officeDocument/2006/relationships/notesMaster" Target="/ppt/notesMasters/notesMaster1.xml" Id="Re415b9fe495a4d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779fad71d24f88" /><Relationship Type="http://schemas.openxmlformats.org/officeDocument/2006/relationships/notesMaster" Target="/ppt/notesMasters/notesMaster1.xml" Id="Re1664f5cdbf8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2a0e074d5b4ba6" /><Relationship Type="http://schemas.openxmlformats.org/officeDocument/2006/relationships/notesMaster" Target="/ppt/notesMasters/notesMaster1.xml" Id="R8ca753b63f0c43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db6a081a7b470d" /><Relationship Type="http://schemas.openxmlformats.org/officeDocument/2006/relationships/notesMaster" Target="/ppt/notesMasters/notesMaster1.xml" Id="R627d6797fcd64d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437813c2a54908" /><Relationship Type="http://schemas.openxmlformats.org/officeDocument/2006/relationships/notesMaster" Target="/ppt/notesMasters/notesMaster1.xml" Id="R698bb45692814f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8a6dac9c0b4f00" /><Relationship Type="http://schemas.openxmlformats.org/officeDocument/2006/relationships/notesMaster" Target="/ppt/notesMasters/notesMaster1.xml" Id="R9267be4d972840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a5e30271b84091" /><Relationship Type="http://schemas.openxmlformats.org/officeDocument/2006/relationships/notesMaster" Target="/ppt/notesMasters/notesMaster1.xml" Id="Rf30b47c034ed47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cfff39b36e472c" /><Relationship Type="http://schemas.openxmlformats.org/officeDocument/2006/relationships/notesMaster" Target="/ppt/notesMasters/notesMaster1.xml" Id="R7913693adc7f46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87bb4b4adf413e" /><Relationship Type="http://schemas.openxmlformats.org/officeDocument/2006/relationships/notesMaster" Target="/ppt/notesMasters/notesMaster1.xml" Id="R06725331c97440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e8913781c94e91" /><Relationship Type="http://schemas.openxmlformats.org/officeDocument/2006/relationships/notesMaster" Target="/ppt/notesMasters/notesMaster1.xml" Id="R0abd7cac581d45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fe6400fc2b4b7b" /><Relationship Type="http://schemas.openxmlformats.org/officeDocument/2006/relationships/notesMaster" Target="/ppt/notesMasters/notesMaster1.xml" Id="Rda2f13d97b7f4b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a45bc8b99348dc" /><Relationship Type="http://schemas.openxmlformats.org/officeDocument/2006/relationships/notesMaster" Target="/ppt/notesMasters/notesMaster1.xml" Id="Rcb015f9ac04542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c9703e710247ee" /><Relationship Type="http://schemas.openxmlformats.org/officeDocument/2006/relationships/notesMaster" Target="/ppt/notesMasters/notesMaster1.xml" Id="Rf007edb9622b40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39eb4dd9a84414" /><Relationship Type="http://schemas.openxmlformats.org/officeDocument/2006/relationships/notesMaster" Target="/ppt/notesMasters/notesMaster1.xml" Id="Ra2c4a481980f4b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5fefbd303946ed" /><Relationship Type="http://schemas.openxmlformats.org/officeDocument/2006/relationships/notesMaster" Target="/ppt/notesMasters/notesMaster1.xml" Id="Ra8616f80670049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5a31d5f98a48b3" /><Relationship Type="http://schemas.openxmlformats.org/officeDocument/2006/relationships/notesMaster" Target="/ppt/notesMasters/notesMaster1.xml" Id="R76582914632e4d5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9ea9dd672e4713" /><Relationship Type="http://schemas.openxmlformats.org/officeDocument/2006/relationships/notesMaster" Target="/ppt/notesMasters/notesMaster1.xml" Id="R99b51a38f03c4e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85002e46634b0f" /><Relationship Type="http://schemas.openxmlformats.org/officeDocument/2006/relationships/notesMaster" Target="/ppt/notesMasters/notesMaster1.xml" Id="R2acd3bbaeffa42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ae1fc84da14688" /><Relationship Type="http://schemas.openxmlformats.org/officeDocument/2006/relationships/notesMaster" Target="/ppt/notesMasters/notesMaster1.xml" Id="Rc6502dde691b462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c7c97dfbac4e21" /><Relationship Type="http://schemas.openxmlformats.org/officeDocument/2006/relationships/notesMaster" Target="/ppt/notesMasters/notesMaster1.xml" Id="R73e31c465f3c424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012fd9db72474d" /><Relationship Type="http://schemas.openxmlformats.org/officeDocument/2006/relationships/notesMaster" Target="/ppt/notesMasters/notesMaster1.xml" Id="Rdc47a63025ce43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Presentar el objetivo y el método FDMLP-LSTM. El estudio adapta el paper al dataset horario del laboratorio. No anunciar superioridad del método antes de revisar la evidencia.</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 Cada ejemplo pertenece a una cuenca. Se observan 14 días de caudal y meteorología y se pronostican los dos días siguientes. La unidad es caudal específico, mm/h. Las doce entradas son una de caudal y once meteorológicas. No hay observaciones futuras en la entrada.</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a:p xmlns:a="http://schemas.openxmlformats.org/drawingml/2006/main">
            <a:r>
              <a:t>Iconos: Lucide, lucide-static 0.468.0, licencia ISC; https://lucide.dev/license (algunos iconos derivados de Feather, licencia MIT).</a:t>
            </a:r>
          </a:p>
          <a:p xmlns:a="http://schemas.openxmlformats.org/drawingml/2006/main">
            <a:r>
              <a:t>Iconos: Lucide, lucide-static 0.468.0, licencia ISC; https://lucide.dev/license (algunos iconos derivados de Feather, licencia MIT).</a:t>
            </a:r>
          </a:p>
          <a:p xmlns:a="http://schemas.openxmlformats.org/drawingml/2006/main">
            <a:r>
              <a:t>Iconos: Lucide, lucide-static 0.468.0, licencia ISC; https://lucide.dev/license (algunos iconos derivados de Feather, licencia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 Figura 2 original del artículo. Explicar las tres etapas: selección LASSO, aprendizaje de relaciones entre variables y aprendizaje temporal con LSTM. La figura muestra alternativas de módulos, no una red que concatene todos. Esta imagen describe la metodología de los autores; las dimensiones y los datos se adaptan en nuestro código.</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1:45–3:00. Recorrer la secuencia. LASSO se ajusta con entrenamiento y retuvo los doce canales. FDMLP transforma cada instante independientemente. La LSTM integra 336 horas y su último estado produce 48 valores mediante una proyección lineal. Dos capas de 128 unidades son una decisión de adaptación. No hay meteorología futura ni generación recursiva.</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3:00–4:15. FFT no aprende parámetros: cambia la representación de las variables. Se usa rFFT ortonormal, dos transformaciones complejas elemento a elemento y CReLU entre ellas; la inversa devuelve valores reales. CReLU aplica ReLU por separado a la parte real e imaginaria. La figura 3 del paper compara el bloque complejo con un MLP estándar. Nuestra rFFT tiene siete componentes para doce variables. El eje transformado es el de variables, no el temporal, y no permite interpretar las componentes como ciclos de lluvia.</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4:15–6:00. LSTM es el control sin módulo adicional. AM pondera canales mediante atención y contexto bidireccional histórico; CNN aplica convolución y promedio sobre variables; GNN aprende relaciones entre variables como nodos; FDMLP procesa componentes complejas. Cada modelo es independiente. El contexto BiLSTM de AM y anchuras auxiliares son adaptaciones documentadas por falta de detalles del suplemento. No agregar todos los módulos al FDMLP.</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6:00–7:00. Se conservan las particiones oficiales del HDF5. Las 508 cuencas aparecen en entrenamiento y validación. No son cuencas retenidas para evaluar generalización espacial. Test tiene 27.983 entradas; sus etiquetas no se utilizaron. No se encontraron NaN o infinitos en la auditoría. Sin fechas no se puede garantizar independencia temporal.</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a:p xmlns:a="http://schemas.openxmlformats.org/drawingml/2006/main">
            <a:r>
              <a:t>Iconos: Lucide, lucide-static 0.468.0, licencia ISC; https://lucide.dev/license (algunos iconos derivados de Feather, licencia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7:00–8:10. Medias y desviaciones se ajustan solo con split 0, igual que LASSO. Para selección se resumen históricamente los canales y se predice la media objetivo; hay diez folds agrupados por cuenca dentro de entrenamiento. La red conserva la secuencia de 336 horas. Se retienen los doce canales. y_aux no se usa como entrada ni objetivo auxiliar. Los posibles objetivos de test no se usan. Ceros de caudal o lluvia no se confunden con faltantes.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a:p xmlns:a="http://schemas.openxmlformats.org/drawingml/2006/main">
            <a:r>
              <a:t>Iconos: Lucide, lucide-static 0.468.0, licencia ISC; https://lucide.dev/license (algunos iconos derivados de Feather, licencia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8:10–9:30. Mismos datos, semillas, orden de lotes, tronco temporal y métricas. MSE y Adam con tasa 10^-4, batch 64, máximo 200 épocas y paciencia 5. El mejor checkpoint se elige por MSE de validación. Equivalencia no significa igual número final de épocas. Todos los modelos usan los datos completos; CNN llegó a 44 épocas y otros se detuvieron antes. Los cinco multivariados comparten inicialización del tronco. El univariado tiene entrada diferente.</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9:30–10:50. La ablación obligatoria retira CReLU y solo prueba el efecto de esa activación. Se añade un MLP real 12→12→12 con ReLU, sin Fourier. Se comparan también las dos variantes residuales x + F(x), con última capa inicialmente 0,01 I y sesgos cero. El cambio residual incluye inicialización: no separar causalmente ambos efectos. MLP tiene 312 parámetros de módulo y FDMLP 56, ambos con el mismo tronco temporal y datos. El control contrasta módulos de distinta conectividad, no prueba exclusivamente la base de Fourier. Los controles residuales son variantes propias, no atribuidas a los autores.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10:50–12:00. Se utilizó RTX 4080 SUPER de 16 GB. La lectura HDF5 por lotes evita cargar todo el dataset en GPU. Precisión mixta en operaciones compatibles y Fourier y normalización del grafo en FP32. Antes de entrenar se verificaron formas, operaciones complejas, gradientes, métricas y pasos piloto. Los pesos piloto se descartan. Los CSV finales tienen 27.983 filas; se recortan predicciones negativas solo al exportar y se conservan valores crudos para análisis.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a:p xmlns:a="http://schemas.openxmlformats.org/drawingml/2006/main">
            <a:r>
              <a:t>Iconos: Lucide, lucide-static 0.468.0, licencia ISC; https://lucide.dev/license (algunos iconos derivados de Feather, licencia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12:00–13:05. RMSE crudo global en mm/h, menor es mejor. Todos se evalúan en las mismas 18.142 ventanas de validación. Las diferencias son pequeñas; FDMLP tiene 0,77% más RMSE que LSTM. NSE de LSTM es aproximadamente 0,650. Correlación alta no elimina sesgos. Estos resultados también usan validación para elegir el checkpoint, por lo que no equivalen a test independiente. Una semilla no permite afirmar significancia estadística.</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13:05–13:55. Presentar los cuatro resultados medidos: FDMLP original, MLP real y variantes residuales. Comparar primero cada módulo con su variante residual y después ambos módulos bajo la misma estrategia. No atribuir una diferencia solo a Fourier: el módulo MLP tiene conexiones densas y más parámetros. La inicialización y el residual se modifican conjuntamente. Resultados descriptivos de semilla 42, sin prueba de significancia estadística. El FDMLP residual reduce el RMSE un 0,37% respecto al original, pero queda por encima de LSTM. MLP residual aumenta el RMSE un 0,05% frente al MLP sin residual. El MLP sin Fourier tiene menor error que ambos FDMLP en esta semilla. Estos controles se plantearon después de evaluar la versión inicial, reutilizando la misma validación. La ablación sin CReLU mejora aproximadamente 0,36% frente al FDMLP original; el control multivariado mejora 3,82% respecto al univariado.</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13:55–14:50. Se muestra la ventana con mayor RMSE de FDMLP, seleccionada mediante una regla reproducible, no como ejemplo representativo del promedio. Id 225537, cuenca 174. Comparar el observado con FDMLP y LSTM y describir solo lo visible: diferencias de magnitud, evolución y picos. La forma de esta curva no explica por sí sola las causas físicas. Las métricas agregadas incluyen todas las ventanas.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14:50–15:40. Sesenta condiciones: cinco modelos, dos conjuntos de canales, dos perturbaciones y tres niveles. Se perturban solo entradas de validación, pesos fijos y mismas realizaciones. El gráfico muestra ruido gaussiano sigma 1 en todos los canales, en unidades estandarizadas. AM presenta la menor caída relativa de NSE. Para FDMLP, faltantes al 20% con interpolación temporal histórica producen un cambio de −0,21%, mucho menor que el ruido. Esto es estrés artificial y no el error real de sensores.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15:40–16:20. Benchmark de inferencia: mediana de veinte repeticiones tras cinco de calentamiento, mismo lote de 64 residente en GPU, sin lectura de disco. LSTM 1,54 ms, FDMLP 2,83 ms por lote. El bloque FDMLP añade solo 56 parámetros sobre LSTM, pero FFT y conversiones tienen coste. Los tiempos dependen de implementación, GPU y carga de otras aplicaciones. Los pasos de benchmark no modifican checkpoints.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16:20–17:10. La tabla 3 del paper muestra FDMLP con menor RMSE en siete de nueve combinaciones estación-horizonte y CNN en dos. En nuestro estudio LSTM obtiene el menor RMSE global a 48 h. FDMLP aumenta 0,77% el error frente a LSTM. No comparar RMSE absoluto: el paper usa datos diarios y m³/s, nosotros horarios y mm/h, con otras cuencas y configuraciones. Los 12/24/48 h son prefijos de un mismo modelo y no entrenamientos separados.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17:10–18:00. Se implementó el método principal, el baseline y la ablación obligatoria, junto con comparadores y estudios del paper. Las variables meteorológicas aportan en el control LSTM, pero el bloque FDMLP no supera el baseline bajo esta adaptación. Ningún modelo es superior en todas las dimensiones. Límites: una semilla, configuración fijada, ausencia de fechas y selección con la misma validación que se reporta. No se evaluaron etiquetas de test. Se exportaron 27.983 predicciones de test por modelo. Prioridades futuras: varias semillas y evaluación independiente con procedencia confirmada.</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a:p xmlns:a="http://schemas.openxmlformats.org/drawingml/2006/main">
            <a:r>
              <a:t>Iconos: Lucide, lucide-static 0.468.0, licencia ISC; https://lucide.dev/license (algunos iconos derivados de Feather, licencia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fuera de los dieciocho minutos. Gradiente absoluto complejo de la pérdida por muestra respecto a siete componentes rFFT, toda la validación, FP32. Componente 3 domina; no hay una caída monótona que sustente predominio universal de baja frecuencia. El orden de variables afecta la interpretación; no son ciclos temporales ni evidencia causal. Figura 15 del paper utiliza una representación distinta de 65 bins.</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fuera de los dieciocho minutos. FHV compara el 2% superior y FLV la forma logarítmica del 30% inferior de curvas de duración ordenadas. Se calculan con predicciones no negativas y piso logarítmico 10^-6 mm/h. El valor ideal es cero. Los signos indican tipo de sesgo; magnitudes no son intercambiables entre métricas. Hay sensibilidad al piso y a cuencas con ceros, documentada en el informe. No son métricas de coincidencia temporal de picos. Referencia de fórmulas: https://neuralhydrology.readthedocs.io/en/latest/api/neuralhydrology.evaluation.metrics.html</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Apoyo fuera de los dieciocho minutos. Comparar los cambios de RMSE de RESULTADOS.md. La ablación sin CReLU estudia la no linealidad. El control MLP convencional no tiene igual conectividad que FDMLP, aunque la diferencia de parámetros totales sea pequeña. Residual más inicialización cercana a identidad preservan la información inicial; no se afirma que este cambio sea una reproducción del código de los autores. Las pruebas originales, los checkpoints y los resultados se conservan. La decisión de repetir semillas depende del tiempo medido, no del ganador.</a:t>
            </a:r>
          </a:p>
          <a:p xmlns:a="http://schemas.openxmlformats.org/drawingml/2006/main">
            <a:r>
              <a:t/>
            </a:r>
          </a:p>
          <a:p xmlns:a="http://schemas.openxmlformats.org/drawingml/2006/main">
            <a:r>
              <a:t>Fuente: resultados del proyecto, validación de 18.142 ventanas. Repositorio: https://github.com/juanvasquez-ship-it/lab-2-deep-learning</a:t>
            </a:r>
          </a:p>
          <a:p xmlns:a="http://schemas.openxmlformats.org/drawingml/2006/main">
            <a:r>
              <a:t>Jia et al., Enhancing streamflow forecasting using an LSTM hybrid model with lightweight frequency-domain feature learning, ESWA 297 (2026), 129418. https://doi.org/10.1016/j.eswa.2025.129418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67d243e91546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0455e1474e4ae0" /><Relationship Type="http://schemas.openxmlformats.org/officeDocument/2006/relationships/slideLayout" Target="/ppt/slideLayouts/slideLayout1.xml" Id="R12af02ea204f43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af02ea204f43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ecb334d5be415e" /><Relationship Type="http://schemas.openxmlformats.org/officeDocument/2006/relationships/notesSlide" Target="/ppt/notesSlides/notesSlide1.xml" Id="R62ce3e5af9774b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c4051510ca4c54" /><Relationship Type="http://schemas.openxmlformats.org/officeDocument/2006/relationships/image" Target="/ppt/media/image.png" Id="R730f6670f3d34b57" /><Relationship Type="http://schemas.openxmlformats.org/officeDocument/2006/relationships/image" Target="/ppt/media/image2.png" Id="Rbb8897740bbc4a46" /><Relationship Type="http://schemas.openxmlformats.org/officeDocument/2006/relationships/image" Target="/ppt/media/image3.png" Id="Rf755c95e83dd49c2" /><Relationship Type="http://schemas.openxmlformats.org/officeDocument/2006/relationships/notesSlide" Target="/ppt/notesSlides/notesSlide2.xml" Id="R669b159bad7647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0e4b9aa2994ad0" /><Relationship Type="http://schemas.openxmlformats.org/officeDocument/2006/relationships/image" Target="/ppt/media/image4.png" Id="R3cf836fdeba44e70" /><Relationship Type="http://schemas.openxmlformats.org/officeDocument/2006/relationships/notesSlide" Target="/ppt/notesSlides/notesSlide3.xml" Id="R6f84035608b741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bbfe86261947b3" /><Relationship Type="http://schemas.openxmlformats.org/officeDocument/2006/relationships/notesSlide" Target="/ppt/notesSlides/notesSlide4.xml" Id="R9ce8c50efafe4b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28193a59914c8e" /><Relationship Type="http://schemas.openxmlformats.org/officeDocument/2006/relationships/image" Target="/ppt/media/image5.png" Id="R0a1ddc701f5b483d" /><Relationship Type="http://schemas.openxmlformats.org/officeDocument/2006/relationships/notesSlide" Target="/ppt/notesSlides/notesSlide5.xml" Id="R03414bf07ee149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0f90ee8de54949" /><Relationship Type="http://schemas.openxmlformats.org/officeDocument/2006/relationships/notesSlide" Target="/ppt/notesSlides/notesSlide6.xml" Id="R06804e67cbd049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fd5de135c0c41f4" /><Relationship Type="http://schemas.openxmlformats.org/officeDocument/2006/relationships/image" Target="/ppt/media/image6.png" Id="R76f0ab6455fb4d5f" /><Relationship Type="http://schemas.openxmlformats.org/officeDocument/2006/relationships/notesSlide" Target="/ppt/notesSlides/notesSlide7.xml" Id="R964a612ac8b242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677751bc434c35" /><Relationship Type="http://schemas.openxmlformats.org/officeDocument/2006/relationships/image" Target="/ppt/media/image7.png" Id="R60c334fa61a248fd" /><Relationship Type="http://schemas.openxmlformats.org/officeDocument/2006/relationships/notesSlide" Target="/ppt/notesSlides/notesSlide8.xml" Id="R61a92d173bae41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8d70f3d4744432" /><Relationship Type="http://schemas.openxmlformats.org/officeDocument/2006/relationships/notesSlide" Target="/ppt/notesSlides/notesSlide9.xml" Id="Rbffc18ff73c942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f2c93b44b6411c" /><Relationship Type="http://schemas.openxmlformats.org/officeDocument/2006/relationships/notesSlide" Target="/ppt/notesSlides/notesSlide10.xml" Id="R882018c93b8346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b6850293794dd2" /><Relationship Type="http://schemas.openxmlformats.org/officeDocument/2006/relationships/image" Target="/ppt/media/image8.png" Id="Rf04c8f169ef34080" /><Relationship Type="http://schemas.openxmlformats.org/officeDocument/2006/relationships/notesSlide" Target="/ppt/notesSlides/notesSlide11.xml" Id="R569dcb5b056746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dd7695f18940b1" /><Relationship Type="http://schemas.openxmlformats.org/officeDocument/2006/relationships/chart" Target="/ppt/slides/charts/chart1.xml" Id="Rcaa0d476fb614226" /><Relationship Type="http://schemas.openxmlformats.org/officeDocument/2006/relationships/notesSlide" Target="/ppt/notesSlides/notesSlide12.xml" Id="R26f4df9fd72243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962d36cce7b4fcf" /><Relationship Type="http://schemas.openxmlformats.org/officeDocument/2006/relationships/chart" Target="/ppt/slides/charts/chart2.xml" Id="Raf6ddb395c284afc" /><Relationship Type="http://schemas.openxmlformats.org/officeDocument/2006/relationships/notesSlide" Target="/ppt/notesSlides/notesSlide13.xml" Id="R370e0433097448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62d83ecf2d4571" /><Relationship Type="http://schemas.openxmlformats.org/officeDocument/2006/relationships/chart" Target="/ppt/slides/charts/chart3.xml" Id="R9941adae8f584c20" /><Relationship Type="http://schemas.openxmlformats.org/officeDocument/2006/relationships/notesSlide" Target="/ppt/notesSlides/notesSlide14.xml" Id="R326992d975064e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482b15e4e58496d" /><Relationship Type="http://schemas.openxmlformats.org/officeDocument/2006/relationships/chart" Target="/ppt/slides/charts/chart4.xml" Id="Rd1d8689d02584ce1" /><Relationship Type="http://schemas.openxmlformats.org/officeDocument/2006/relationships/notesSlide" Target="/ppt/notesSlides/notesSlide15.xml" Id="Re86365eb844b40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11fe598ee924f22" /><Relationship Type="http://schemas.openxmlformats.org/officeDocument/2006/relationships/chart" Target="/ppt/slides/charts/chart5.xml" Id="R2a39cbe1d3514176" /><Relationship Type="http://schemas.openxmlformats.org/officeDocument/2006/relationships/notesSlide" Target="/ppt/notesSlides/notesSlide16.xml" Id="R3ab4f3bb61aa43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3774aeff3c240ab" /><Relationship Type="http://schemas.openxmlformats.org/officeDocument/2006/relationships/notesSlide" Target="/ppt/notesSlides/notesSlide17.xml" Id="Re4bc19c45f1b49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663b6f603254035" /><Relationship Type="http://schemas.openxmlformats.org/officeDocument/2006/relationships/image" Target="/ppt/media/image9.png" Id="Rfbf1b58292634191" /><Relationship Type="http://schemas.openxmlformats.org/officeDocument/2006/relationships/notesSlide" Target="/ppt/notesSlides/notesSlide18.xml" Id="R272a2f5820b949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dad5fafbab428e" /><Relationship Type="http://schemas.openxmlformats.org/officeDocument/2006/relationships/chart" Target="/ppt/slides/charts/chart6.xml" Id="R0fdb38855e8a47e6" /><Relationship Type="http://schemas.openxmlformats.org/officeDocument/2006/relationships/notesSlide" Target="/ppt/notesSlides/notesSlide19.xml" Id="R2faf1ca577c645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31a61661d84a7c" /><Relationship Type="http://schemas.openxmlformats.org/officeDocument/2006/relationships/chart" Target="/ppt/slides/charts/chart7.xml" Id="R75ac7fe797204961" /><Relationship Type="http://schemas.openxmlformats.org/officeDocument/2006/relationships/notesSlide" Target="/ppt/notesSlides/notesSlide20.xml" Id="R64dd9a94bdaf4a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5c195c561af45d8" /><Relationship Type="http://schemas.openxmlformats.org/officeDocument/2006/relationships/notesSlide" Target="/ppt/notesSlides/notesSlide21.xml" Id="R5ce8c33b45d6463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 (mm/h)</c:v>
          </c:tx>
          <c:spPr>
            <a:solidFill xmlns:a="http://schemas.openxmlformats.org/drawingml/2006/main">
              <a:srgbClr val="007F80"/>
            </a:solidFill>
          </c:spPr>
          <c:dPt>
            <c:idx val="0"/>
            <c:invertIfNegative val="0"/>
            <c:spPr>
              <a:solidFill xmlns:a="http://schemas.openxmlformats.org/drawingml/2006/main">
                <a:srgbClr val="437AA0"/>
              </a:solidFill>
            </c:spPr>
          </c:dPt>
          <c:dPt>
            <c:idx val="1"/>
            <c:invertIfNegative val="0"/>
            <c:spPr>
              <a:solidFill xmlns:a="http://schemas.openxmlformats.org/drawingml/2006/main">
                <a:srgbClr val="B27A23"/>
              </a:solidFill>
            </c:spPr>
          </c:dPt>
          <c:dPt>
            <c:idx val="2"/>
            <c:invertIfNegative val="0"/>
            <c:spPr>
              <a:solidFill xmlns:a="http://schemas.openxmlformats.org/drawingml/2006/main">
                <a:srgbClr val="437AA0"/>
              </a:solidFill>
            </c:spPr>
          </c:dPt>
          <c:dPt>
            <c:idx val="3"/>
            <c:invertIfNegative val="0"/>
            <c:spPr>
              <a:solidFill xmlns:a="http://schemas.openxmlformats.org/drawingml/2006/main">
                <a:srgbClr val="437AA0"/>
              </a:solidFill>
            </c:spPr>
          </c:dPt>
          <c:dPt>
            <c:idx val="4"/>
            <c:invertIfNegative val="0"/>
            <c:spPr>
              <a:solidFill xmlns:a="http://schemas.openxmlformats.org/drawingml/2006/main">
                <a:srgbClr val="007F80"/>
              </a:solidFill>
            </c:spPr>
          </c:dPt>
          <c:cat>
            <c:strRef>
              <c:f>'Chart Data'!$A$2:$A$6</c:f>
              <c:strCache>
                <c:ptCount val="5"/>
                <c:pt idx="0">
                  <c:v>GNN-LSTM</c:v>
                </c:pt>
                <c:pt idx="1">
                  <c:v>FDMLP-LSTM</c:v>
                </c:pt>
                <c:pt idx="2">
                  <c:v>AM-LSTM</c:v>
                </c:pt>
                <c:pt idx="3">
                  <c:v>CNN-LSTM</c:v>
                </c:pt>
                <c:pt idx="4">
                  <c:v>LSTM</c:v>
                </c:pt>
              </c:strCache>
            </c:strRef>
          </c:cat>
          <c:val>
            <c:numRef>
              <c:f>'Chart Data'!$B$2:$B$6</c:f>
              <c:numCache>
                <c:formatCode>0.00000</c:formatCode>
                <c:ptCount val="5"/>
                <c:pt idx="0">
                  <c:v>0.1029206739</c:v>
                </c:pt>
                <c:pt idx="1">
                  <c:v>0.1023724444</c:v>
                </c:pt>
                <c:pt idx="2">
                  <c:v>0.1023296632</c:v>
                </c:pt>
                <c:pt idx="3">
                  <c:v>0.1018764785</c:v>
                </c:pt>
                <c:pt idx="4">
                  <c:v>0.1015858796</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E4EBEF"/>
            </a:solidFill>
          </a:ln>
        </c:spPr>
        <c:txPr>
          <a:bodyPr xmlns:a="http://schemas.openxmlformats.org/drawingml/2006/main" anchorCtr="1"/>
          <a:lstStyle xmlns:a="http://schemas.openxmlformats.org/drawingml/2006/main"/>
          <a:p xmlns:a="http://schemas.openxmlformats.org/drawingml/2006/main">
            <a:pPr>
              <a:defRPr sz="1500">
                <a:solidFill>
                  <a:srgbClr val="173448"/>
                </a:solidFill>
                <a:latin typeface="Arial"/>
                <a:ea typeface="Arial"/>
                <a:cs typeface="Arial"/>
              </a:defRPr>
            </a:pPr>
          </a:p>
        </c:txPr>
        <c:crossAx val="48672768"/>
      </c:catAx>
      <c:valAx>
        <c:axId val="48672768"/>
        <c:scaling>
          <c:orientation val="minMax"/>
          <c:max val="0.12"/>
          <c:min val="0"/>
        </c:scaling>
        <c:delete val="0"/>
        <c:axPos val="b"/>
        <c:majorGridlines>
          <c:spPr>
            <a:ln xmlns:a="http://schemas.openxmlformats.org/drawingml/2006/main" w="9525">
              <a:solidFill>
                <a:srgbClr val="E4EBE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 (mm/h)</c:v>
          </c:tx>
          <c:spPr>
            <a:solidFill xmlns:a="http://schemas.openxmlformats.org/drawingml/2006/main">
              <a:srgbClr val="007F80"/>
            </a:solidFill>
          </c:spPr>
          <c:cat>
            <c:strRef>
              <c:f>'Chart Data'!$A$2:$A$5</c:f>
              <c:strCache>
                <c:ptCount val="4"/>
                <c:pt idx="0">
                  <c:v>MLP residual</c:v>
                </c:pt>
                <c:pt idx="1">
                  <c:v>FDMLP residual</c:v>
                </c:pt>
                <c:pt idx="2">
                  <c:v>MLP real</c:v>
                </c:pt>
                <c:pt idx="3">
                  <c:v>FDMLP</c:v>
                </c:pt>
              </c:strCache>
            </c:strRef>
          </c:cat>
          <c:val>
            <c:numRef>
              <c:f>'Chart Data'!$B$2:$B$5</c:f>
              <c:numCache>
                <c:formatCode>0.00000</c:formatCode>
                <c:ptCount val="4"/>
                <c:pt idx="0">
                  <c:v>0.1017310984</c:v>
                </c:pt>
                <c:pt idx="1">
                  <c:v>0.1019891628</c:v>
                </c:pt>
                <c:pt idx="2">
                  <c:v>0.1016826291</c:v>
                </c:pt>
                <c:pt idx="3">
                  <c:v>0.1023724444</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E4EBEF"/>
            </a:solidFill>
          </a:ln>
        </c:spPr>
        <c:txPr>
          <a:bodyPr xmlns:a="http://schemas.openxmlformats.org/drawingml/2006/main" anchorCtr="1"/>
          <a:lstStyle xmlns:a="http://schemas.openxmlformats.org/drawingml/2006/main"/>
          <a:p xmlns:a="http://schemas.openxmlformats.org/drawingml/2006/main">
            <a:pPr>
              <a:defRPr sz="1500">
                <a:solidFill>
                  <a:srgbClr val="173448"/>
                </a:solidFill>
                <a:latin typeface="Arial"/>
                <a:ea typeface="Arial"/>
                <a:cs typeface="Arial"/>
              </a:defRPr>
            </a:pPr>
          </a:p>
        </c:txPr>
        <c:crossAx val="48672768"/>
      </c:catAx>
      <c:valAx>
        <c:axId val="48672768"/>
        <c:scaling>
          <c:orientation val="minMax"/>
          <c:max val="0.12"/>
          <c:min val="0"/>
        </c:scaling>
        <c:delete val="0"/>
        <c:axPos val="b"/>
        <c:majorGridlines>
          <c:spPr>
            <a:ln xmlns:a="http://schemas.openxmlformats.org/drawingml/2006/main" w="9525">
              <a:solidFill>
                <a:srgbClr val="E4EBE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Observado</c:v>
          </c:tx>
          <c:spPr>
            <a:ln xmlns:a="http://schemas.openxmlformats.org/drawingml/2006/main" w="28575">
              <a:solidFill>
                <a:srgbClr val="173448"/>
              </a:solidFill>
            </a:ln>
          </c:spPr>
          <c:marker>
            <c:symbol val="none"/>
          </c:marker>
          <c:cat>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cat>
          <c:val>
            <c:numRef>
              <c:f>'Chart Data'!$B$2:$B$49</c:f>
              <c:numCache>
                <c:formatCode>0.0</c:formatCode>
                <c:ptCount val="48"/>
                <c:pt idx="0">
                  <c:v>1.031702042</c:v>
                </c:pt>
                <c:pt idx="1">
                  <c:v>1.554384351</c:v>
                </c:pt>
                <c:pt idx="2">
                  <c:v>1.89524889</c:v>
                </c:pt>
                <c:pt idx="3">
                  <c:v>1.965313554</c:v>
                </c:pt>
                <c:pt idx="4">
                  <c:v>2.413727283</c:v>
                </c:pt>
                <c:pt idx="5">
                  <c:v>2.820102453</c:v>
                </c:pt>
                <c:pt idx="6">
                  <c:v>3.328071117</c:v>
                </c:pt>
                <c:pt idx="7">
                  <c:v>3.709923506</c:v>
                </c:pt>
                <c:pt idx="8">
                  <c:v>4.025214195</c:v>
                </c:pt>
                <c:pt idx="9">
                  <c:v>4.732867241</c:v>
                </c:pt>
                <c:pt idx="10">
                  <c:v>5.969508648</c:v>
                </c:pt>
                <c:pt idx="11">
                  <c:v>6.680665016</c:v>
                </c:pt>
                <c:pt idx="12">
                  <c:v>6.684167862</c:v>
                </c:pt>
                <c:pt idx="13">
                  <c:v>6.239257336</c:v>
                </c:pt>
                <c:pt idx="14">
                  <c:v>5.874921322</c:v>
                </c:pt>
                <c:pt idx="15">
                  <c:v>5.580649853</c:v>
                </c:pt>
                <c:pt idx="16">
                  <c:v>5.195293903</c:v>
                </c:pt>
                <c:pt idx="17">
                  <c:v>4.837964535</c:v>
                </c:pt>
                <c:pt idx="18">
                  <c:v>4.743377209</c:v>
                </c:pt>
                <c:pt idx="19">
                  <c:v>5.062171459</c:v>
                </c:pt>
                <c:pt idx="20">
                  <c:v>5.160261631</c:v>
                </c:pt>
                <c:pt idx="21">
                  <c:v>5.093700409</c:v>
                </c:pt>
                <c:pt idx="22">
                  <c:v>5.240836143</c:v>
                </c:pt>
                <c:pt idx="23">
                  <c:v>5.394978523</c:v>
                </c:pt>
                <c:pt idx="24">
                  <c:v>5.678740025</c:v>
                </c:pt>
                <c:pt idx="25">
                  <c:v>5.661223888</c:v>
                </c:pt>
                <c:pt idx="26">
                  <c:v>5.535107613</c:v>
                </c:pt>
                <c:pt idx="27">
                  <c:v>5.874921322</c:v>
                </c:pt>
                <c:pt idx="28">
                  <c:v>5.461539745</c:v>
                </c:pt>
                <c:pt idx="29">
                  <c:v>5.268862247</c:v>
                </c:pt>
                <c:pt idx="30">
                  <c:v>5.223320007</c:v>
                </c:pt>
                <c:pt idx="31">
                  <c:v>5.023635864</c:v>
                </c:pt>
                <c:pt idx="32">
                  <c:v>4.764396667</c:v>
                </c:pt>
                <c:pt idx="33">
                  <c:v>4.788918972</c:v>
                </c:pt>
                <c:pt idx="34">
                  <c:v>4.512163639</c:v>
                </c:pt>
                <c:pt idx="35">
                  <c:v>4.242414951</c:v>
                </c:pt>
                <c:pt idx="36">
                  <c:v>4.004195213</c:v>
                </c:pt>
                <c:pt idx="37">
                  <c:v>3.730942965</c:v>
                </c:pt>
                <c:pt idx="38">
                  <c:v>3.510239124</c:v>
                </c:pt>
                <c:pt idx="39">
                  <c:v>3.356096983</c:v>
                </c:pt>
                <c:pt idx="40">
                  <c:v>3.114373922</c:v>
                </c:pt>
                <c:pt idx="41">
                  <c:v>2.970741272</c:v>
                </c:pt>
                <c:pt idx="42">
                  <c:v>2.823605537</c:v>
                </c:pt>
                <c:pt idx="43">
                  <c:v>2.697489262</c:v>
                </c:pt>
                <c:pt idx="44">
                  <c:v>2.57487607</c:v>
                </c:pt>
                <c:pt idx="45">
                  <c:v>2.427740335</c:v>
                </c:pt>
                <c:pt idx="46">
                  <c:v>2.315636873</c:v>
                </c:pt>
                <c:pt idx="47">
                  <c:v>2.228055954</c:v>
                </c:pt>
              </c:numCache>
            </c:numRef>
          </c:val>
        </c:ser>
        <c:ser>
          <c:idx val="1"/>
          <c:order val="1"/>
          <c:tx>
            <c:v>LSTM</c:v>
          </c:tx>
          <c:spPr>
            <a:ln xmlns:a="http://schemas.openxmlformats.org/drawingml/2006/main" w="19050">
              <a:solidFill>
                <a:srgbClr val="007F80"/>
              </a:solidFill>
            </a:ln>
          </c:spPr>
          <c:marker>
            <c:symbol val="none"/>
          </c:marker>
          <c:cat>
            <c:numRef>
              <c:f>'Chart Data'!$C$2:$C$49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cat>
          <c:val>
            <c:numRef>
              <c:f>'Chart Data'!$D$2:$D$49</c:f>
              <c:numCache>
                <c:formatCode>0.0</c:formatCode>
                <c:ptCount val="48"/>
                <c:pt idx="0">
                  <c:v>1.064029098</c:v>
                </c:pt>
                <c:pt idx="1">
                  <c:v>1.135168076</c:v>
                </c:pt>
                <c:pt idx="2">
                  <c:v>1.155313611</c:v>
                </c:pt>
                <c:pt idx="3">
                  <c:v>1.230229855</c:v>
                </c:pt>
                <c:pt idx="4">
                  <c:v>1.246598125</c:v>
                </c:pt>
                <c:pt idx="5">
                  <c:v>1.256041408</c:v>
                </c:pt>
                <c:pt idx="6">
                  <c:v>1.256041408</c:v>
                </c:pt>
                <c:pt idx="7">
                  <c:v>1.235266328</c:v>
                </c:pt>
                <c:pt idx="8">
                  <c:v>1.255411863</c:v>
                </c:pt>
                <c:pt idx="9">
                  <c:v>1.227711678</c:v>
                </c:pt>
                <c:pt idx="10">
                  <c:v>1.194345593</c:v>
                </c:pt>
                <c:pt idx="11">
                  <c:v>1.167275071</c:v>
                </c:pt>
                <c:pt idx="12">
                  <c:v>1.172940969</c:v>
                </c:pt>
                <c:pt idx="13">
                  <c:v>1.12824297</c:v>
                </c:pt>
                <c:pt idx="14">
                  <c:v>1.111245155</c:v>
                </c:pt>
                <c:pt idx="15">
                  <c:v>1.069694996</c:v>
                </c:pt>
                <c:pt idx="16">
                  <c:v>1.054585814</c:v>
                </c:pt>
                <c:pt idx="17">
                  <c:v>1.019331098</c:v>
                </c:pt>
                <c:pt idx="18">
                  <c:v>0.9910014272</c:v>
                </c:pt>
                <c:pt idx="19">
                  <c:v>0.9544875622</c:v>
                </c:pt>
                <c:pt idx="20">
                  <c:v>0.9141964912</c:v>
                </c:pt>
                <c:pt idx="21">
                  <c:v>0.9255283475</c:v>
                </c:pt>
                <c:pt idx="22">
                  <c:v>0.905382812</c:v>
                </c:pt>
                <c:pt idx="23">
                  <c:v>0.8606848121</c:v>
                </c:pt>
                <c:pt idx="24">
                  <c:v>0.8525006771</c:v>
                </c:pt>
                <c:pt idx="25">
                  <c:v>0.8317255974</c:v>
                </c:pt>
                <c:pt idx="26">
                  <c:v>0.7964708209</c:v>
                </c:pt>
                <c:pt idx="27">
                  <c:v>0.7706593275</c:v>
                </c:pt>
                <c:pt idx="28">
                  <c:v>0.7467364669</c:v>
                </c:pt>
                <c:pt idx="29">
                  <c:v>0.7536615133</c:v>
                </c:pt>
                <c:pt idx="30">
                  <c:v>0.7347750664</c:v>
                </c:pt>
                <c:pt idx="31">
                  <c:v>0.7023532987</c:v>
                </c:pt>
                <c:pt idx="32">
                  <c:v>0.6822077632</c:v>
                </c:pt>
                <c:pt idx="33">
                  <c:v>0.6655247211</c:v>
                </c:pt>
                <c:pt idx="34">
                  <c:v>0.6727644801</c:v>
                </c:pt>
                <c:pt idx="35">
                  <c:v>0.6501007676</c:v>
                </c:pt>
                <c:pt idx="36">
                  <c:v>0.6299551725</c:v>
                </c:pt>
                <c:pt idx="37">
                  <c:v>0.6044584513</c:v>
                </c:pt>
                <c:pt idx="38">
                  <c:v>0.6110687256</c:v>
                </c:pt>
                <c:pt idx="39">
                  <c:v>0.6094948649</c:v>
                </c:pt>
                <c:pt idx="40">
                  <c:v>0.6104391813</c:v>
                </c:pt>
                <c:pt idx="41">
                  <c:v>0.5581865907</c:v>
                </c:pt>
                <c:pt idx="42">
                  <c:v>0.5559831858</c:v>
                </c:pt>
                <c:pt idx="43">
                  <c:v>0.5427626371</c:v>
                </c:pt>
                <c:pt idx="44">
                  <c:v>0.5367819667</c:v>
                </c:pt>
                <c:pt idx="45">
                  <c:v>0.4983794987</c:v>
                </c:pt>
                <c:pt idx="46">
                  <c:v>0.5415035486</c:v>
                </c:pt>
                <c:pt idx="47">
                  <c:v>0.5131738782</c:v>
                </c:pt>
              </c:numCache>
            </c:numRef>
          </c:val>
        </c:ser>
        <c:ser>
          <c:idx val="2"/>
          <c:order val="2"/>
          <c:tx>
            <c:v>FDMLP-LSTM</c:v>
          </c:tx>
          <c:spPr>
            <a:ln xmlns:a="http://schemas.openxmlformats.org/drawingml/2006/main" w="19050">
              <a:solidFill>
                <a:srgbClr val="B27A23"/>
              </a:solidFill>
            </a:ln>
          </c:spPr>
          <c:marker>
            <c:symbol val="none"/>
          </c:marker>
          <c:cat>
            <c:numRef>
              <c:f>'Chart Data'!$E$2:$E$49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cat>
          <c:val>
            <c:numRef>
              <c:f>'Chart Data'!$F$2:$F$49</c:f>
              <c:numCache>
                <c:formatCode>0.0</c:formatCode>
                <c:ptCount val="48"/>
                <c:pt idx="0">
                  <c:v>1.24156177</c:v>
                </c:pt>
                <c:pt idx="1">
                  <c:v>1.301368952</c:v>
                </c:pt>
                <c:pt idx="2">
                  <c:v>1.347955585</c:v>
                </c:pt>
                <c:pt idx="3">
                  <c:v>1.375655651</c:v>
                </c:pt>
                <c:pt idx="4">
                  <c:v>1.409651279</c:v>
                </c:pt>
                <c:pt idx="5">
                  <c:v>1.444905996</c:v>
                </c:pt>
                <c:pt idx="6">
                  <c:v>1.460015178</c:v>
                </c:pt>
                <c:pt idx="7">
                  <c:v>1.491492629</c:v>
                </c:pt>
                <c:pt idx="8">
                  <c:v>1.461274266</c:v>
                </c:pt>
                <c:pt idx="9">
                  <c:v>1.443646908</c:v>
                </c:pt>
                <c:pt idx="10">
                  <c:v>1.456237912</c:v>
                </c:pt>
                <c:pt idx="11">
                  <c:v>1.404614925</c:v>
                </c:pt>
                <c:pt idx="12">
                  <c:v>1.402096748</c:v>
                </c:pt>
                <c:pt idx="13">
                  <c:v>1.426019549</c:v>
                </c:pt>
                <c:pt idx="14">
                  <c:v>1.374396563</c:v>
                </c:pt>
                <c:pt idx="15">
                  <c:v>1.361805558</c:v>
                </c:pt>
                <c:pt idx="16">
                  <c:v>1.358028293</c:v>
                </c:pt>
                <c:pt idx="17">
                  <c:v>1.291296124</c:v>
                </c:pt>
                <c:pt idx="18">
                  <c:v>1.31144166</c:v>
                </c:pt>
                <c:pt idx="19">
                  <c:v>1.298850775</c:v>
                </c:pt>
                <c:pt idx="20">
                  <c:v>1.282482505</c:v>
                </c:pt>
                <c:pt idx="21">
                  <c:v>1.235895872</c:v>
                </c:pt>
                <c:pt idx="22">
                  <c:v>1.208195686</c:v>
                </c:pt>
                <c:pt idx="23">
                  <c:v>1.181125045</c:v>
                </c:pt>
                <c:pt idx="24">
                  <c:v>1.147129416</c:v>
                </c:pt>
                <c:pt idx="25">
                  <c:v>1.106208801</c:v>
                </c:pt>
                <c:pt idx="26">
                  <c:v>1.113763332</c:v>
                </c:pt>
                <c:pt idx="27">
                  <c:v>1.126983881</c:v>
                </c:pt>
                <c:pt idx="28">
                  <c:v>1.087951899</c:v>
                </c:pt>
                <c:pt idx="29">
                  <c:v>1.096765518</c:v>
                </c:pt>
                <c:pt idx="30">
                  <c:v>1.097395062</c:v>
                </c:pt>
                <c:pt idx="31">
                  <c:v>1.087322354</c:v>
                </c:pt>
                <c:pt idx="32">
                  <c:v>1.080397248</c:v>
                </c:pt>
                <c:pt idx="33">
                  <c:v>1.06591773</c:v>
                </c:pt>
                <c:pt idx="34">
                  <c:v>1.045142531</c:v>
                </c:pt>
                <c:pt idx="35">
                  <c:v>1.031922102</c:v>
                </c:pt>
                <c:pt idx="36">
                  <c:v>1.044512987</c:v>
                </c:pt>
                <c:pt idx="37">
                  <c:v>0.9960378408</c:v>
                </c:pt>
                <c:pt idx="38">
                  <c:v>1.014924288</c:v>
                </c:pt>
                <c:pt idx="39">
                  <c:v>0.9702262878</c:v>
                </c:pt>
                <c:pt idx="40">
                  <c:v>0.9840763807</c:v>
                </c:pt>
                <c:pt idx="41">
                  <c:v>1.005481005</c:v>
                </c:pt>
                <c:pt idx="42">
                  <c:v>1.020590186</c:v>
                </c:pt>
                <c:pt idx="43">
                  <c:v>0.9840763807</c:v>
                </c:pt>
                <c:pt idx="44">
                  <c:v>1.007369637</c:v>
                </c:pt>
                <c:pt idx="45">
                  <c:v>0.9664490223</c:v>
                </c:pt>
                <c:pt idx="46">
                  <c:v>0.9475625753</c:v>
                </c:pt>
                <c:pt idx="47">
                  <c:v>0.9381192923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Hora de pronóstico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4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Caudal (mm/h)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44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Cambio relativo del NSE (%)</c:v>
          </c:tx>
          <c:spPr>
            <a:solidFill xmlns:a="http://schemas.openxmlformats.org/drawingml/2006/main">
              <a:srgbClr val="437AA0"/>
            </a:solidFill>
          </c:spPr>
          <c:invertIfNegative val="0"/>
          <c:cat>
            <c:strRef>
              <c:f>'Chart Data'!$A$2:$A$6</c:f>
              <c:strCache>
                <c:ptCount val="5"/>
                <c:pt idx="0">
                  <c:v>LSTM</c:v>
                </c:pt>
                <c:pt idx="1">
                  <c:v>AM-LSTM</c:v>
                </c:pt>
                <c:pt idx="2">
                  <c:v>CNN-LSTM</c:v>
                </c:pt>
                <c:pt idx="3">
                  <c:v>GNN-LSTM</c:v>
                </c:pt>
                <c:pt idx="4">
                  <c:v>FDMLP-LSTM</c:v>
                </c:pt>
              </c:strCache>
            </c:strRef>
          </c:cat>
          <c:val>
            <c:numRef>
              <c:f>'Chart Data'!$B$2:$B$6</c:f>
              <c:numCache>
                <c:formatCode>0.0</c:formatCode>
                <c:ptCount val="5"/>
                <c:pt idx="0">
                  <c:v>-72.92218296</c:v>
                </c:pt>
                <c:pt idx="1">
                  <c:v>-53.18666797</c:v>
                </c:pt>
                <c:pt idx="2">
                  <c:v>-72.03363089</c:v>
                </c:pt>
                <c:pt idx="3">
                  <c:v>-60.39126161</c:v>
                </c:pt>
                <c:pt idx="4">
                  <c:v>-63.21797276</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
          <c:min val="-80"/>
        </c:scaling>
        <c:delete val="0"/>
        <c:axPos val="l"/>
        <c:majorGridlines>
          <c:spPr>
            <a:ln xmlns:a="http://schemas.openxmlformats.org/drawingml/2006/main" w="9525">
              <a:solidFill>
                <a:srgbClr val="E4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Inferencia (ms/lote)</c:v>
          </c:tx>
          <c:spPr>
            <a:solidFill xmlns:a="http://schemas.openxmlformats.org/drawingml/2006/main">
              <a:srgbClr val="007F80"/>
            </a:solidFill>
          </c:spPr>
          <c:cat>
            <c:strRef>
              <c:f>'Chart Data'!$A$2:$A$6</c:f>
              <c:strCache>
                <c:ptCount val="5"/>
                <c:pt idx="0">
                  <c:v>LSTM</c:v>
                </c:pt>
                <c:pt idx="1">
                  <c:v>AM-LSTM</c:v>
                </c:pt>
                <c:pt idx="2">
                  <c:v>CNN-LSTM</c:v>
                </c:pt>
                <c:pt idx="3">
                  <c:v>GNN-LSTM</c:v>
                </c:pt>
                <c:pt idx="4">
                  <c:v>FDMLP-LSTM</c:v>
                </c:pt>
              </c:strCache>
            </c:strRef>
          </c:cat>
          <c:val>
            <c:numRef>
              <c:f>'Chart Data'!$B$2:$B$6</c:f>
              <c:numCache>
                <c:formatCode>0.00</c:formatCode>
                <c:ptCount val="5"/>
                <c:pt idx="0">
                  <c:v>1.535699994</c:v>
                </c:pt>
                <c:pt idx="1">
                  <c:v>2.300949993</c:v>
                </c:pt>
                <c:pt idx="2">
                  <c:v>1.912250002</c:v>
                </c:pt>
                <c:pt idx="3">
                  <c:v>2.302250003</c:v>
                </c:pt>
                <c:pt idx="4">
                  <c:v>2.832849998</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BEF"/>
            </a:solidFill>
          </a:ln>
        </c:spPr>
        <c:txPr>
          <a:bodyPr xmlns:a="http://schemas.openxmlformats.org/drawingml/2006/main" anchorCtr="1"/>
          <a:lstStyle xmlns:a="http://schemas.openxmlformats.org/drawingml/2006/main"/>
          <a:p xmlns:a="http://schemas.openxmlformats.org/drawingml/2006/main">
            <a:pPr>
              <a:defRPr sz="1500">
                <a:solidFill>
                  <a:srgbClr val="173448"/>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E4EBE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Gradiente absoluto medio</c:v>
          </c:tx>
          <c:spPr>
            <a:solidFill xmlns:a="http://schemas.openxmlformats.org/drawingml/2006/main">
              <a:srgbClr val="007F80"/>
            </a:solidFill>
          </c:spPr>
          <c:cat>
            <c:numRef>
              <c:f>'Chart Data'!$A$2:$A$8</c:f>
              <c:numCache>
                <c:formatCode>General</c:formatCode>
                <c:ptCount val="7"/>
                <c:pt idx="0">
                  <c:v>0</c:v>
                </c:pt>
                <c:pt idx="1">
                  <c:v>1</c:v>
                </c:pt>
                <c:pt idx="2">
                  <c:v>2</c:v>
                </c:pt>
                <c:pt idx="3">
                  <c:v>3</c:v>
                </c:pt>
                <c:pt idx="4">
                  <c:v>4</c:v>
                </c:pt>
                <c:pt idx="5">
                  <c:v>5</c:v>
                </c:pt>
                <c:pt idx="6">
                  <c:v>6</c:v>
                </c:pt>
              </c:numCache>
            </c:numRef>
          </c:cat>
          <c:val>
            <c:numRef>
              <c:f>'Chart Data'!$B$2:$B$8</c:f>
              <c:numCache>
                <c:formatCode>0.0000</c:formatCode>
                <c:ptCount val="7"/>
                <c:pt idx="0">
                  <c:v>0.0003560794445</c:v>
                </c:pt>
                <c:pt idx="1">
                  <c:v>0.001287084873</c:v>
                </c:pt>
                <c:pt idx="2">
                  <c:v>0.0008702154724</c:v>
                </c:pt>
                <c:pt idx="3">
                  <c:v>0.001748041614</c:v>
                </c:pt>
                <c:pt idx="4">
                  <c:v>0.0009221484879</c:v>
                </c:pt>
                <c:pt idx="5">
                  <c:v>0.001035380072</c:v>
                </c:pt>
                <c:pt idx="6">
                  <c:v>0.00060222223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Componente rFFT sobre variables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4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Gradiente absoluto medio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FHV (%)</c:v>
          </c:tx>
          <c:spPr>
            <a:solidFill xmlns:a="http://schemas.openxmlformats.org/drawingml/2006/main">
              <a:srgbClr val="007F80"/>
            </a:solidFill>
          </c:spPr>
          <c:invertIfNegative val="0"/>
          <c:cat>
            <c:strRef>
              <c:f>'Chart Data'!$A$2:$A$6</c:f>
              <c:strCache>
                <c:ptCount val="5"/>
                <c:pt idx="0">
                  <c:v>LSTM</c:v>
                </c:pt>
                <c:pt idx="1">
                  <c:v>AM-LSTM</c:v>
                </c:pt>
                <c:pt idx="2">
                  <c:v>CNN-LSTM</c:v>
                </c:pt>
                <c:pt idx="3">
                  <c:v>GNN-LSTM</c:v>
                </c:pt>
                <c:pt idx="4">
                  <c:v>FDMLP-LSTM</c:v>
                </c:pt>
              </c:strCache>
            </c:strRef>
          </c:cat>
          <c:val>
            <c:numRef>
              <c:f>'Chart Data'!$B$2:$B$6</c:f>
              <c:numCache>
                <c:formatCode>0.0</c:formatCode>
                <c:ptCount val="5"/>
                <c:pt idx="0">
                  <c:v>-18.00201351</c:v>
                </c:pt>
                <c:pt idx="1">
                  <c:v>-12.85851955</c:v>
                </c:pt>
                <c:pt idx="2">
                  <c:v>-20.70462632</c:v>
                </c:pt>
                <c:pt idx="3">
                  <c:v>-18.50692949</c:v>
                </c:pt>
                <c:pt idx="4">
                  <c:v>-16.69461237</c:v>
                </c:pt>
              </c:numCache>
            </c:numRef>
          </c:val>
        </c:ser>
        <c:ser>
          <c:idx val="1"/>
          <c:order val="1"/>
          <c:tx>
            <c:v>FLV (%)</c:v>
          </c:tx>
          <c:spPr>
            <a:solidFill xmlns:a="http://schemas.openxmlformats.org/drawingml/2006/main">
              <a:srgbClr val="B27A23"/>
            </a:solidFill>
          </c:spPr>
          <c:invertIfNegative val="0"/>
          <c:cat>
            <c:strRef>
              <c:f>'Chart Data'!$C$2:$C$6</c:f>
              <c:strCache>
                <c:ptCount val="5"/>
                <c:pt idx="0">
                  <c:v>LSTM</c:v>
                </c:pt>
                <c:pt idx="1">
                  <c:v>AM-LSTM</c:v>
                </c:pt>
                <c:pt idx="2">
                  <c:v>CNN-LSTM</c:v>
                </c:pt>
                <c:pt idx="3">
                  <c:v>GNN-LSTM</c:v>
                </c:pt>
                <c:pt idx="4">
                  <c:v>FDMLP-LSTM</c:v>
                </c:pt>
              </c:strCache>
            </c:strRef>
          </c:cat>
          <c:val>
            <c:numRef>
              <c:f>'Chart Data'!$D$2:$D$6</c:f>
              <c:numCache>
                <c:formatCode>0.0</c:formatCode>
                <c:ptCount val="5"/>
                <c:pt idx="0">
                  <c:v>26.47623264</c:v>
                </c:pt>
                <c:pt idx="1">
                  <c:v>-37.02318738</c:v>
                </c:pt>
                <c:pt idx="2">
                  <c:v>-37.70239247</c:v>
                </c:pt>
                <c:pt idx="3">
                  <c:v>6.336828844</c:v>
                </c:pt>
                <c:pt idx="4">
                  <c:v>-17.34753732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40"/>
          <c:min val="-50"/>
        </c:scaling>
        <c:delete val="0"/>
        <c:axPos val="l"/>
        <c:majorGridlines>
          <c:spPr>
            <a:ln xmlns:a="http://schemas.openxmlformats.org/drawingml/2006/main" w="9525">
              <a:solidFill>
                <a:srgbClr val="E4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3448"/>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44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8443F0-637D-4773-9688-B6C9D4234859}"/>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9BDC8"/>
                </a:solidFill>
                <a:latin typeface="Arial"/>
                <a:ea typeface="Arial"/>
                <a:cs typeface="Arial"/>
              </a:defRPr>
            </a:pPr>
            <a:r>
              <a:rPr sz="1125" b="0">
                <a:solidFill>
                  <a:srgbClr val="A9BDC8"/>
                </a:solidFill>
                <a:latin typeface="Arial"/>
                <a:ea typeface="Arial"/>
                <a:cs typeface="Arial"/>
              </a:rPr>
              <a:t>Laboratorio 2 · Deep Learning</a:t>
            </a:r>
          </a:p>
        </p:txBody>
      </p:sp>
      <p:sp>
        <p:nvSpPr>
          <p:cNvPr id="2" name="">
            <a:extLst xmlns:a="http://schemas.openxmlformats.org/drawingml/2006/main">
              <a:ext uri="{FF2B5EF4-FFF2-40B4-BE49-F238E27FC236}">
                <a16:creationId xmlns:a16="http://schemas.microsoft.com/office/drawing/2014/main" id="{D0781393-5AE1-4B07-AAFD-6BC53C91FA76}"/>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683D97B-604A-4FFB-8A24-8F4E4EEA0AB7}"/>
              </a:ext>
            </a:extLst>
          </p:cNvPr>
          <p:cNvSpPr>
            <a:spLocks xmlns:a="http://schemas.openxmlformats.org/drawingml/2006/main" noGrp="1"/>
          </p:cNvSpPr>
          <p:nvPr/>
        </p:nvSpPr>
        <p:spPr>
          <a:xfrm xmlns:a="http://schemas.openxmlformats.org/drawingml/2006/main">
            <a:off x="685800" y="1190625"/>
            <a:ext cx="9906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Pronóstico</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 caudal</a:t>
            </a:r>
          </a:p>
        </p:txBody>
      </p:sp>
      <p:sp>
        <p:nvSpPr>
          <p:cNvPr id="4" name="">
            <a:extLst xmlns:a="http://schemas.openxmlformats.org/drawingml/2006/main">
              <a:ext uri="{FF2B5EF4-FFF2-40B4-BE49-F238E27FC236}">
                <a16:creationId xmlns:a16="http://schemas.microsoft.com/office/drawing/2014/main" id="{A3288E57-7528-4CE1-8C57-4F7C0E1993C6}"/>
              </a:ext>
            </a:extLst>
          </p:cNvPr>
          <p:cNvSpPr>
            <a:spLocks xmlns:a="http://schemas.openxmlformats.org/drawingml/2006/main" noGrp="1"/>
          </p:cNvSpPr>
          <p:nvPr/>
        </p:nvSpPr>
        <p:spPr>
          <a:xfrm xmlns:a="http://schemas.openxmlformats.org/drawingml/2006/main">
            <a:off x="723900" y="3419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FDMLP-LSTM y comparación experimental</a:t>
            </a:r>
          </a:p>
        </p:txBody>
      </p:sp>
      <p:sp>
        <p:nvSpPr>
          <p:cNvPr id="5" name="">
            <a:extLst xmlns:a="http://schemas.openxmlformats.org/drawingml/2006/main">
              <a:ext uri="{FF2B5EF4-FFF2-40B4-BE49-F238E27FC236}">
                <a16:creationId xmlns:a16="http://schemas.microsoft.com/office/drawing/2014/main" id="{AA26B1C3-AB2B-4F17-85E7-81720DA98587}"/>
              </a:ext>
            </a:extLst>
          </p:cNvPr>
          <p:cNvSpPr>
            <a:spLocks xmlns:a="http://schemas.openxmlformats.org/drawingml/2006/main" noGrp="1"/>
          </p:cNvSpPr>
          <p:nvPr/>
        </p:nvSpPr>
        <p:spPr>
          <a:xfrm xmlns:a="http://schemas.openxmlformats.org/drawingml/2006/main">
            <a:off x="723900" y="46291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9DD3D3"/>
                </a:solidFill>
                <a:latin typeface="Arial"/>
                <a:ea typeface="Arial"/>
                <a:cs typeface="Arial"/>
              </a:defRPr>
            </a:pPr>
            <a:r>
              <a:rPr sz="2700" b="0">
                <a:solidFill>
                  <a:srgbClr val="9DD3D3"/>
                </a:solidFill>
                <a:latin typeface="Arial"/>
                <a:ea typeface="Arial"/>
                <a:cs typeface="Arial"/>
              </a:rPr>
              <a:t>336 h de historia   /   48 h de pronóstico</a:t>
            </a:r>
          </a:p>
        </p:txBody>
      </p:sp>
    </p:spTree>
    <p:extLst>
      <p:ext uri="{BB962C8B-B14F-4D97-AF65-F5344CB8AC3E}">
        <p14:creationId xmlns:p14="http://schemas.microsoft.com/office/powerpoint/2010/main" val="1004480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779A10-CEC2-4002-881C-36436AFD6E9E}"/>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El problema de pronóstico</a:t>
            </a:r>
          </a:p>
        </p:txBody>
      </p:sp>
      <p:sp>
        <p:nvSpPr>
          <p:cNvPr id="2" name="">
            <a:extLst xmlns:a="http://schemas.openxmlformats.org/drawingml/2006/main">
              <a:ext uri="{FF2B5EF4-FFF2-40B4-BE49-F238E27FC236}">
                <a16:creationId xmlns:a16="http://schemas.microsoft.com/office/drawing/2014/main" id="{B9764951-1651-4141-ADA4-5BA55AB93148}"/>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Metodología · 1/3</a:t>
            </a:r>
          </a:p>
        </p:txBody>
      </p:sp>
      <p:sp>
        <p:nvSpPr>
          <p:cNvPr id="3" name="">
            <a:extLst xmlns:a="http://schemas.openxmlformats.org/drawingml/2006/main">
              <a:ext uri="{FF2B5EF4-FFF2-40B4-BE49-F238E27FC236}">
                <a16:creationId xmlns:a16="http://schemas.microsoft.com/office/drawing/2014/main" id="{0E2B0364-7CCE-4827-BDEB-D7B35617C3B7}"/>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30f6670f3d34b57"/>
          <a:stretch xmlns:a="http://schemas.openxmlformats.org/drawingml/2006/main"/>
        </p:blipFill>
        <p:spPr>
          <a:xfrm xmlns:a="http://schemas.openxmlformats.org/drawingml/2006/main">
            <a:off x="895350" y="1685925"/>
            <a:ext cx="704850" cy="7048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04445E-F545-4AF1-BAF9-2A74B61A541F}"/>
              </a:ext>
            </a:extLst>
          </p:cNvPr>
          <p:cNvSpPr>
            <a:spLocks xmlns:a="http://schemas.openxmlformats.org/drawingml/2006/main" noGrp="1"/>
          </p:cNvSpPr>
          <p:nvPr/>
        </p:nvSpPr>
        <p:spPr>
          <a:xfrm xmlns:a="http://schemas.openxmlformats.org/drawingml/2006/main">
            <a:off x="819150" y="26860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336 h</a:t>
            </a:r>
          </a:p>
        </p:txBody>
      </p:sp>
      <p:sp>
        <p:nvSpPr>
          <p:cNvPr id="6" name="">
            <a:extLst xmlns:a="http://schemas.openxmlformats.org/drawingml/2006/main">
              <a:ext uri="{FF2B5EF4-FFF2-40B4-BE49-F238E27FC236}">
                <a16:creationId xmlns:a16="http://schemas.microsoft.com/office/drawing/2014/main" id="{55CCE7E4-B7B3-43C3-B3F9-6B44E7FF7295}"/>
              </a:ext>
            </a:extLst>
          </p:cNvPr>
          <p:cNvSpPr>
            <a:spLocks xmlns:a="http://schemas.openxmlformats.org/drawingml/2006/main" noGrp="1"/>
          </p:cNvSpPr>
          <p:nvPr/>
        </p:nvSpPr>
        <p:spPr>
          <a:xfrm xmlns:a="http://schemas.openxmlformats.org/drawingml/2006/main">
            <a:off x="819150" y="36576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Historia observada</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b8897740bbc4a46"/>
          <a:stretch xmlns:a="http://schemas.openxmlformats.org/drawingml/2006/main"/>
        </p:blipFill>
        <p:spPr>
          <a:xfrm xmlns:a="http://schemas.openxmlformats.org/drawingml/2006/main">
            <a:off x="4591050" y="1685925"/>
            <a:ext cx="704850" cy="704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836A9B1-9C70-4DC3-89B5-2B4CB77D9F77}"/>
              </a:ext>
            </a:extLst>
          </p:cNvPr>
          <p:cNvSpPr>
            <a:spLocks xmlns:a="http://schemas.openxmlformats.org/drawingml/2006/main" noGrp="1"/>
          </p:cNvSpPr>
          <p:nvPr/>
        </p:nvSpPr>
        <p:spPr>
          <a:xfrm xmlns:a="http://schemas.openxmlformats.org/drawingml/2006/main">
            <a:off x="4495800" y="26860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12</a:t>
            </a:r>
          </a:p>
        </p:txBody>
      </p:sp>
      <p:sp>
        <p:nvSpPr>
          <p:cNvPr id="9" name="">
            <a:extLst xmlns:a="http://schemas.openxmlformats.org/drawingml/2006/main">
              <a:ext uri="{FF2B5EF4-FFF2-40B4-BE49-F238E27FC236}">
                <a16:creationId xmlns:a16="http://schemas.microsoft.com/office/drawing/2014/main" id="{78A5D227-C702-41FF-8145-FCA949B325AC}"/>
              </a:ext>
            </a:extLst>
          </p:cNvPr>
          <p:cNvSpPr>
            <a:spLocks xmlns:a="http://schemas.openxmlformats.org/drawingml/2006/main" noGrp="1"/>
          </p:cNvSpPr>
          <p:nvPr/>
        </p:nvSpPr>
        <p:spPr>
          <a:xfrm xmlns:a="http://schemas.openxmlformats.org/drawingml/2006/main">
            <a:off x="4495800" y="36576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Variables de entrada</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755c95e83dd49c2"/>
          <a:stretch xmlns:a="http://schemas.openxmlformats.org/drawingml/2006/main"/>
        </p:blipFill>
        <p:spPr>
          <a:xfrm xmlns:a="http://schemas.openxmlformats.org/drawingml/2006/main">
            <a:off x="8362950" y="1685925"/>
            <a:ext cx="704850" cy="7048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3395566-90EA-443D-9D7B-D39006484E2F}"/>
              </a:ext>
            </a:extLst>
          </p:cNvPr>
          <p:cNvSpPr>
            <a:spLocks xmlns:a="http://schemas.openxmlformats.org/drawingml/2006/main" noGrp="1"/>
          </p:cNvSpPr>
          <p:nvPr/>
        </p:nvSpPr>
        <p:spPr>
          <a:xfrm xmlns:a="http://schemas.openxmlformats.org/drawingml/2006/main">
            <a:off x="8286750" y="26860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48 h</a:t>
            </a:r>
          </a:p>
        </p:txBody>
      </p:sp>
      <p:sp>
        <p:nvSpPr>
          <p:cNvPr id="12" name="">
            <a:extLst xmlns:a="http://schemas.openxmlformats.org/drawingml/2006/main">
              <a:ext uri="{FF2B5EF4-FFF2-40B4-BE49-F238E27FC236}">
                <a16:creationId xmlns:a16="http://schemas.microsoft.com/office/drawing/2014/main" id="{E28AC401-031C-4D2B-849B-21AC4F63D3E0}"/>
              </a:ext>
            </a:extLst>
          </p:cNvPr>
          <p:cNvSpPr>
            <a:spLocks xmlns:a="http://schemas.openxmlformats.org/drawingml/2006/main" noGrp="1"/>
          </p:cNvSpPr>
          <p:nvPr/>
        </p:nvSpPr>
        <p:spPr>
          <a:xfrm xmlns:a="http://schemas.openxmlformats.org/drawingml/2006/main">
            <a:off x="8286750" y="36576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Caudal futuro · mm/h</a:t>
            </a:r>
          </a:p>
        </p:txBody>
      </p:sp>
      <p:sp>
        <p:nvSpPr>
          <p:cNvPr id="13" name="">
            <a:extLst xmlns:a="http://schemas.openxmlformats.org/drawingml/2006/main">
              <a:ext uri="{FF2B5EF4-FFF2-40B4-BE49-F238E27FC236}">
                <a16:creationId xmlns:a16="http://schemas.microsoft.com/office/drawing/2014/main" id="{4599B0D4-71FD-4962-8E3E-3EBBB67CD9E1}"/>
              </a:ext>
            </a:extLst>
          </p:cNvPr>
          <p:cNvSpPr>
            <a:spLocks xmlns:a="http://schemas.openxmlformats.org/drawingml/2006/main" noGrp="1"/>
          </p:cNvSpPr>
          <p:nvPr/>
        </p:nvSpPr>
        <p:spPr>
          <a:xfrm xmlns:a="http://schemas.openxmlformats.org/drawingml/2006/main">
            <a:off x="847725" y="52863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0717D"/>
                </a:solidFill>
                <a:latin typeface="Arial"/>
                <a:ea typeface="Arial"/>
                <a:cs typeface="Arial"/>
              </a:defRPr>
            </a:pPr>
            <a:r>
              <a:rPr sz="2175" b="0">
                <a:solidFill>
                  <a:srgbClr val="60717D"/>
                </a:solidFill>
                <a:latin typeface="Arial"/>
                <a:ea typeface="Arial"/>
                <a:cs typeface="Arial"/>
              </a:rPr>
              <a:t>Entrada [B, 336, 12]                  Salida [B, 48]</a:t>
            </a:r>
          </a:p>
        </p:txBody>
      </p:sp>
    </p:spTree>
    <p:extLst>
      <p:ext uri="{BB962C8B-B14F-4D97-AF65-F5344CB8AC3E}">
        <p14:creationId xmlns:p14="http://schemas.microsoft.com/office/powerpoint/2010/main" val="6806080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3D9159-2BB6-4231-894D-AEFF7D659BA7}"/>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La propuesta del paper</a:t>
            </a:r>
          </a:p>
        </p:txBody>
      </p:sp>
      <p:sp>
        <p:nvSpPr>
          <p:cNvPr id="2" name="">
            <a:extLst xmlns:a="http://schemas.openxmlformats.org/drawingml/2006/main">
              <a:ext uri="{FF2B5EF4-FFF2-40B4-BE49-F238E27FC236}">
                <a16:creationId xmlns:a16="http://schemas.microsoft.com/office/drawing/2014/main" id="{F89C315E-6C75-4ADB-9E80-D9A23CDE3E63}"/>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Metodología · 1/3</a:t>
            </a:r>
          </a:p>
        </p:txBody>
      </p:sp>
      <p:sp>
        <p:nvSpPr>
          <p:cNvPr id="3" name="">
            <a:extLst xmlns:a="http://schemas.openxmlformats.org/drawingml/2006/main">
              <a:ext uri="{FF2B5EF4-FFF2-40B4-BE49-F238E27FC236}">
                <a16:creationId xmlns:a16="http://schemas.microsoft.com/office/drawing/2014/main" id="{A8577CE6-C7F6-4123-9F22-AED763DE2F2E}"/>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cf836fdeba44e70"/>
          <a:stretch xmlns:a="http://schemas.openxmlformats.org/drawingml/2006/main"/>
        </p:blipFill>
        <p:spPr>
          <a:xfrm xmlns:a="http://schemas.openxmlformats.org/drawingml/2006/main">
            <a:off x="850381" y="1476375"/>
            <a:ext cx="6462162" cy="45434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88008B-96CE-4D91-A6FC-28AA754F777B}"/>
              </a:ext>
            </a:extLst>
          </p:cNvPr>
          <p:cNvSpPr>
            <a:spLocks xmlns:a="http://schemas.openxmlformats.org/drawingml/2006/main" noGrp="1"/>
          </p:cNvSpPr>
          <p:nvPr/>
        </p:nvSpPr>
        <p:spPr>
          <a:xfrm xmlns:a="http://schemas.openxmlformats.org/drawingml/2006/main">
            <a:off x="8086725" y="18669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80"/>
                </a:solidFill>
                <a:latin typeface="Arial"/>
                <a:ea typeface="Arial"/>
                <a:cs typeface="Arial"/>
              </a:defRPr>
            </a:pPr>
            <a:r>
              <a:rPr sz="2550" b="1">
                <a:solidFill>
                  <a:srgbClr val="007F80"/>
                </a:solidFill>
                <a:latin typeface="Arial"/>
                <a:ea typeface="Arial"/>
                <a:cs typeface="Arial"/>
              </a:rPr>
              <a:t>LASSO</a:t>
            </a:r>
          </a:p>
        </p:txBody>
      </p:sp>
      <p:sp>
        <p:nvSpPr>
          <p:cNvPr id="6" name="">
            <a:extLst xmlns:a="http://schemas.openxmlformats.org/drawingml/2006/main">
              <a:ext uri="{FF2B5EF4-FFF2-40B4-BE49-F238E27FC236}">
                <a16:creationId xmlns:a16="http://schemas.microsoft.com/office/drawing/2014/main" id="{8B445F9B-E858-4F81-974F-5FBC6ACDFC2D}"/>
              </a:ext>
            </a:extLst>
          </p:cNvPr>
          <p:cNvSpPr>
            <a:spLocks xmlns:a="http://schemas.openxmlformats.org/drawingml/2006/main" noGrp="1"/>
          </p:cNvSpPr>
          <p:nvPr/>
        </p:nvSpPr>
        <p:spPr>
          <a:xfrm xmlns:a="http://schemas.openxmlformats.org/drawingml/2006/main">
            <a:off x="8086725" y="23812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448"/>
                </a:solidFill>
                <a:latin typeface="Arial"/>
                <a:ea typeface="Arial"/>
                <a:cs typeface="Arial"/>
              </a:defRPr>
            </a:pPr>
            <a:r>
              <a:rPr sz="1875" b="0">
                <a:solidFill>
                  <a:srgbClr val="173448"/>
                </a:solidFill>
                <a:latin typeface="Arial"/>
                <a:ea typeface="Arial"/>
                <a:cs typeface="Arial"/>
              </a:rPr>
              <a:t>Selección de variables</a:t>
            </a:r>
          </a:p>
        </p:txBody>
      </p:sp>
      <p:sp>
        <p:nvSpPr>
          <p:cNvPr id="7" name="">
            <a:extLst xmlns:a="http://schemas.openxmlformats.org/drawingml/2006/main">
              <a:ext uri="{FF2B5EF4-FFF2-40B4-BE49-F238E27FC236}">
                <a16:creationId xmlns:a16="http://schemas.microsoft.com/office/drawing/2014/main" id="{6816C782-E9B2-4D51-A2DA-39E67C26AF8B}"/>
              </a:ext>
            </a:extLst>
          </p:cNvPr>
          <p:cNvSpPr>
            <a:spLocks xmlns:a="http://schemas.openxmlformats.org/drawingml/2006/main" noGrp="1"/>
          </p:cNvSpPr>
          <p:nvPr/>
        </p:nvSpPr>
        <p:spPr>
          <a:xfrm xmlns:a="http://schemas.openxmlformats.org/drawingml/2006/main">
            <a:off x="8086725" y="33623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80"/>
                </a:solidFill>
                <a:latin typeface="Arial"/>
                <a:ea typeface="Arial"/>
                <a:cs typeface="Arial"/>
              </a:defRPr>
            </a:pPr>
            <a:r>
              <a:rPr sz="2550" b="1">
                <a:solidFill>
                  <a:srgbClr val="007F80"/>
                </a:solidFill>
                <a:latin typeface="Arial"/>
                <a:ea typeface="Arial"/>
                <a:cs typeface="Arial"/>
              </a:rPr>
              <a:t>FDMLP</a:t>
            </a:r>
          </a:p>
        </p:txBody>
      </p:sp>
      <p:sp>
        <p:nvSpPr>
          <p:cNvPr id="8" name="">
            <a:extLst xmlns:a="http://schemas.openxmlformats.org/drawingml/2006/main">
              <a:ext uri="{FF2B5EF4-FFF2-40B4-BE49-F238E27FC236}">
                <a16:creationId xmlns:a16="http://schemas.microsoft.com/office/drawing/2014/main" id="{92F3559E-D05B-4116-B0DA-C5FB21082ADF}"/>
              </a:ext>
            </a:extLst>
          </p:cNvPr>
          <p:cNvSpPr>
            <a:spLocks xmlns:a="http://schemas.openxmlformats.org/drawingml/2006/main" noGrp="1"/>
          </p:cNvSpPr>
          <p:nvPr/>
        </p:nvSpPr>
        <p:spPr>
          <a:xfrm xmlns:a="http://schemas.openxmlformats.org/drawingml/2006/main">
            <a:off x="8086725" y="38766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448"/>
                </a:solidFill>
                <a:latin typeface="Arial"/>
                <a:ea typeface="Arial"/>
                <a:cs typeface="Arial"/>
              </a:defRPr>
            </a:pPr>
            <a:r>
              <a:rPr sz="1875" b="0">
                <a:solidFill>
                  <a:srgbClr val="173448"/>
                </a:solidFill>
                <a:latin typeface="Arial"/>
                <a:ea typeface="Arial"/>
                <a:cs typeface="Arial"/>
              </a:rPr>
              <a:t>Relaciones entre variables</a:t>
            </a:r>
          </a:p>
        </p:txBody>
      </p:sp>
      <p:sp>
        <p:nvSpPr>
          <p:cNvPr id="9" name="">
            <a:extLst xmlns:a="http://schemas.openxmlformats.org/drawingml/2006/main">
              <a:ext uri="{FF2B5EF4-FFF2-40B4-BE49-F238E27FC236}">
                <a16:creationId xmlns:a16="http://schemas.microsoft.com/office/drawing/2014/main" id="{91C9257A-7E23-43B6-AEDF-E026BE86B17D}"/>
              </a:ext>
            </a:extLst>
          </p:cNvPr>
          <p:cNvSpPr>
            <a:spLocks xmlns:a="http://schemas.openxmlformats.org/drawingml/2006/main" noGrp="1"/>
          </p:cNvSpPr>
          <p:nvPr/>
        </p:nvSpPr>
        <p:spPr>
          <a:xfrm xmlns:a="http://schemas.openxmlformats.org/drawingml/2006/main">
            <a:off x="8086725" y="48577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80"/>
                </a:solidFill>
                <a:latin typeface="Arial"/>
                <a:ea typeface="Arial"/>
                <a:cs typeface="Arial"/>
              </a:defRPr>
            </a:pPr>
            <a:r>
              <a:rPr sz="2550" b="1">
                <a:solidFill>
                  <a:srgbClr val="007F80"/>
                </a:solidFill>
                <a:latin typeface="Arial"/>
                <a:ea typeface="Arial"/>
                <a:cs typeface="Arial"/>
              </a:rPr>
              <a:t>LSTM</a:t>
            </a:r>
          </a:p>
        </p:txBody>
      </p:sp>
      <p:sp>
        <p:nvSpPr>
          <p:cNvPr id="10" name="">
            <a:extLst xmlns:a="http://schemas.openxmlformats.org/drawingml/2006/main">
              <a:ext uri="{FF2B5EF4-FFF2-40B4-BE49-F238E27FC236}">
                <a16:creationId xmlns:a16="http://schemas.microsoft.com/office/drawing/2014/main" id="{573B1854-7DCD-434B-8336-3710B087DFC8}"/>
              </a:ext>
            </a:extLst>
          </p:cNvPr>
          <p:cNvSpPr>
            <a:spLocks xmlns:a="http://schemas.openxmlformats.org/drawingml/2006/main" noGrp="1"/>
          </p:cNvSpPr>
          <p:nvPr/>
        </p:nvSpPr>
        <p:spPr>
          <a:xfrm xmlns:a="http://schemas.openxmlformats.org/drawingml/2006/main">
            <a:off x="8086725" y="53721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448"/>
                </a:solidFill>
                <a:latin typeface="Arial"/>
                <a:ea typeface="Arial"/>
                <a:cs typeface="Arial"/>
              </a:defRPr>
            </a:pPr>
            <a:r>
              <a:rPr sz="1875" b="0">
                <a:solidFill>
                  <a:srgbClr val="173448"/>
                </a:solidFill>
                <a:latin typeface="Arial"/>
                <a:ea typeface="Arial"/>
                <a:cs typeface="Arial"/>
              </a:rPr>
              <a:t>Dependencia temporal</a:t>
            </a:r>
          </a:p>
        </p:txBody>
      </p:sp>
    </p:spTree>
    <p:extLst>
      <p:ext uri="{BB962C8B-B14F-4D97-AF65-F5344CB8AC3E}">
        <p14:creationId xmlns:p14="http://schemas.microsoft.com/office/powerpoint/2010/main" val="7750344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339157-547A-4BE6-B369-3E357CAD51A5}"/>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La arquitectura implementada</a:t>
            </a:r>
          </a:p>
        </p:txBody>
      </p:sp>
      <p:sp>
        <p:nvSpPr>
          <p:cNvPr id="2" name="">
            <a:extLst xmlns:a="http://schemas.openxmlformats.org/drawingml/2006/main">
              <a:ext uri="{FF2B5EF4-FFF2-40B4-BE49-F238E27FC236}">
                <a16:creationId xmlns:a16="http://schemas.microsoft.com/office/drawing/2014/main" id="{BE9E48CB-8A00-4B0F-81FD-B1DC90892473}"/>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Metodología · 1/3</a:t>
            </a:r>
          </a:p>
        </p:txBody>
      </p:sp>
      <p:sp>
        <p:nvSpPr>
          <p:cNvPr id="3" name="">
            <a:extLst xmlns:a="http://schemas.openxmlformats.org/drawingml/2006/main">
              <a:ext uri="{FF2B5EF4-FFF2-40B4-BE49-F238E27FC236}">
                <a16:creationId xmlns:a16="http://schemas.microsoft.com/office/drawing/2014/main" id="{D00BFEE3-E81D-4723-B892-6F5FB3C3A4EB}"/>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89E7D117-FECF-49D2-B01B-D77A8C2EFF15}"/>
              </a:ext>
            </a:extLst>
          </p:cNvPr>
          <p:cNvSpPr>
            <a:spLocks xmlns:a="http://schemas.openxmlformats.org/drawingml/2006/main" noGrp="1"/>
          </p:cNvSpPr>
          <p:nvPr/>
        </p:nvSpPr>
        <p:spPr>
          <a:xfrm xmlns:a="http://schemas.openxmlformats.org/drawingml/2006/main">
            <a:off x="723900" y="15906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01  LASSO</a:t>
            </a:r>
          </a:p>
        </p:txBody>
      </p:sp>
      <p:sp>
        <p:nvSpPr>
          <p:cNvPr id="5" name="">
            <a:extLst xmlns:a="http://schemas.openxmlformats.org/drawingml/2006/main">
              <a:ext uri="{FF2B5EF4-FFF2-40B4-BE49-F238E27FC236}">
                <a16:creationId xmlns:a16="http://schemas.microsoft.com/office/drawing/2014/main" id="{54303DFE-5AA7-46D6-A50D-BD46ED8BC73D}"/>
              </a:ext>
            </a:extLst>
          </p:cNvPr>
          <p:cNvSpPr>
            <a:spLocks xmlns:a="http://schemas.openxmlformats.org/drawingml/2006/main" noGrp="1"/>
          </p:cNvSpPr>
          <p:nvPr/>
        </p:nvSpPr>
        <p:spPr>
          <a:xfrm xmlns:a="http://schemas.openxmlformats.org/drawingml/2006/main">
            <a:off x="3810000" y="15906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12 canales retenidos</a:t>
            </a:r>
          </a:p>
        </p:txBody>
      </p:sp>
      <p:sp>
        <p:nvSpPr>
          <p:cNvPr id="6" name="">
            <a:extLst xmlns:a="http://schemas.openxmlformats.org/drawingml/2006/main">
              <a:ext uri="{FF2B5EF4-FFF2-40B4-BE49-F238E27FC236}">
                <a16:creationId xmlns:a16="http://schemas.microsoft.com/office/drawing/2014/main" id="{7275D955-AFB2-4728-8011-673C506B3A72}"/>
              </a:ext>
            </a:extLst>
          </p:cNvPr>
          <p:cNvSpPr>
            <a:spLocks xmlns:a="http://schemas.openxmlformats.org/drawingml/2006/main" noGrp="1"/>
          </p:cNvSpPr>
          <p:nvPr/>
        </p:nvSpPr>
        <p:spPr>
          <a:xfrm xmlns:a="http://schemas.openxmlformats.org/drawingml/2006/main">
            <a:off x="723900" y="25336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02  FDMLP</a:t>
            </a:r>
          </a:p>
        </p:txBody>
      </p:sp>
      <p:sp>
        <p:nvSpPr>
          <p:cNvPr id="7" name="">
            <a:extLst xmlns:a="http://schemas.openxmlformats.org/drawingml/2006/main">
              <a:ext uri="{FF2B5EF4-FFF2-40B4-BE49-F238E27FC236}">
                <a16:creationId xmlns:a16="http://schemas.microsoft.com/office/drawing/2014/main" id="{52863DE0-7DEA-4F12-A72C-B3A7D589BCFB}"/>
              </a:ext>
            </a:extLst>
          </p:cNvPr>
          <p:cNvSpPr>
            <a:spLocks xmlns:a="http://schemas.openxmlformats.org/drawingml/2006/main" noGrp="1"/>
          </p:cNvSpPr>
          <p:nvPr/>
        </p:nvSpPr>
        <p:spPr>
          <a:xfrm xmlns:a="http://schemas.openxmlformats.org/drawingml/2006/main">
            <a:off x="3810000" y="25336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Transformación entre variables, en cada hora</a:t>
            </a:r>
          </a:p>
        </p:txBody>
      </p:sp>
      <p:sp>
        <p:nvSpPr>
          <p:cNvPr id="8" name="">
            <a:extLst xmlns:a="http://schemas.openxmlformats.org/drawingml/2006/main">
              <a:ext uri="{FF2B5EF4-FFF2-40B4-BE49-F238E27FC236}">
                <a16:creationId xmlns:a16="http://schemas.microsoft.com/office/drawing/2014/main" id="{20D6C496-4235-4348-9622-1AC28E2C2B04}"/>
              </a:ext>
            </a:extLst>
          </p:cNvPr>
          <p:cNvSpPr>
            <a:spLocks xmlns:a="http://schemas.openxmlformats.org/drawingml/2006/main" noGrp="1"/>
          </p:cNvSpPr>
          <p:nvPr/>
        </p:nvSpPr>
        <p:spPr>
          <a:xfrm xmlns:a="http://schemas.openxmlformats.org/drawingml/2006/main">
            <a:off x="723900" y="3476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03  LSTM</a:t>
            </a:r>
          </a:p>
        </p:txBody>
      </p:sp>
      <p:sp>
        <p:nvSpPr>
          <p:cNvPr id="9" name="">
            <a:extLst xmlns:a="http://schemas.openxmlformats.org/drawingml/2006/main">
              <a:ext uri="{FF2B5EF4-FFF2-40B4-BE49-F238E27FC236}">
                <a16:creationId xmlns:a16="http://schemas.microsoft.com/office/drawing/2014/main" id="{EEACC822-78FA-4FB3-99D7-B08F2D298A3F}"/>
              </a:ext>
            </a:extLst>
          </p:cNvPr>
          <p:cNvSpPr>
            <a:spLocks xmlns:a="http://schemas.openxmlformats.org/drawingml/2006/main" noGrp="1"/>
          </p:cNvSpPr>
          <p:nvPr/>
        </p:nvSpPr>
        <p:spPr>
          <a:xfrm xmlns:a="http://schemas.openxmlformats.org/drawingml/2006/main">
            <a:off x="3810000" y="34766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2 capas × 128 unidades</a:t>
            </a:r>
          </a:p>
        </p:txBody>
      </p:sp>
      <p:sp>
        <p:nvSpPr>
          <p:cNvPr id="10" name="">
            <a:extLst xmlns:a="http://schemas.openxmlformats.org/drawingml/2006/main">
              <a:ext uri="{FF2B5EF4-FFF2-40B4-BE49-F238E27FC236}">
                <a16:creationId xmlns:a16="http://schemas.microsoft.com/office/drawing/2014/main" id="{731CE412-6701-4F97-B691-1AD6DAEE7A12}"/>
              </a:ext>
            </a:extLst>
          </p:cNvPr>
          <p:cNvSpPr>
            <a:spLocks xmlns:a="http://schemas.openxmlformats.org/drawingml/2006/main" noGrp="1"/>
          </p:cNvSpPr>
          <p:nvPr/>
        </p:nvSpPr>
        <p:spPr>
          <a:xfrm xmlns:a="http://schemas.openxmlformats.org/drawingml/2006/main">
            <a:off x="723900" y="44196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04  Proyección</a:t>
            </a:r>
          </a:p>
        </p:txBody>
      </p:sp>
      <p:sp>
        <p:nvSpPr>
          <p:cNvPr id="11" name="">
            <a:extLst xmlns:a="http://schemas.openxmlformats.org/drawingml/2006/main">
              <a:ext uri="{FF2B5EF4-FFF2-40B4-BE49-F238E27FC236}">
                <a16:creationId xmlns:a16="http://schemas.microsoft.com/office/drawing/2014/main" id="{878BF9CF-B1D1-4C99-9BA2-4BBB63D01FD2}"/>
              </a:ext>
            </a:extLst>
          </p:cNvPr>
          <p:cNvSpPr>
            <a:spLocks xmlns:a="http://schemas.openxmlformats.org/drawingml/2006/main" noGrp="1"/>
          </p:cNvSpPr>
          <p:nvPr/>
        </p:nvSpPr>
        <p:spPr>
          <a:xfrm xmlns:a="http://schemas.openxmlformats.org/drawingml/2006/main">
            <a:off x="3810000" y="441960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48 salidas simultáneas</a:t>
            </a:r>
          </a:p>
        </p:txBody>
      </p:sp>
      <p:sp>
        <p:nvSpPr>
          <p:cNvPr id="12" name="">
            <a:extLst xmlns:a="http://schemas.openxmlformats.org/drawingml/2006/main">
              <a:ext uri="{FF2B5EF4-FFF2-40B4-BE49-F238E27FC236}">
                <a16:creationId xmlns:a16="http://schemas.microsoft.com/office/drawing/2014/main" id="{02838E27-8358-4A87-86CD-06FB25BB2D8C}"/>
              </a:ext>
            </a:extLst>
          </p:cNvPr>
          <p:cNvSpPr>
            <a:spLocks xmlns:a="http://schemas.openxmlformats.org/drawingml/2006/main" noGrp="1"/>
          </p:cNvSpPr>
          <p:nvPr/>
        </p:nvSpPr>
        <p:spPr>
          <a:xfrm xmlns:a="http://schemas.openxmlformats.org/drawingml/2006/main">
            <a:off x="723900" y="561022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0717D"/>
                </a:solidFill>
                <a:latin typeface="Arial"/>
                <a:ea typeface="Arial"/>
                <a:cs typeface="Arial"/>
              </a:defRPr>
            </a:pPr>
            <a:r>
              <a:rPr sz="2025" b="0">
                <a:solidFill>
                  <a:srgbClr val="60717D"/>
                </a:solidFill>
                <a:latin typeface="Arial"/>
                <a:ea typeface="Arial"/>
                <a:cs typeface="Arial"/>
              </a:rPr>
              <a:t>[B, 336, 12]  →  [B, 336, 12]  →  [B, 128]  →  [B, 48]</a:t>
            </a:r>
          </a:p>
        </p:txBody>
      </p:sp>
    </p:spTree>
    <p:extLst>
      <p:ext uri="{BB962C8B-B14F-4D97-AF65-F5344CB8AC3E}">
        <p14:creationId xmlns:p14="http://schemas.microsoft.com/office/powerpoint/2010/main" val="8263814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DDBFF0-8A96-4976-A3FE-934F35607331}"/>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El bloque frecuencial</a:t>
            </a:r>
          </a:p>
        </p:txBody>
      </p:sp>
      <p:sp>
        <p:nvSpPr>
          <p:cNvPr id="2" name="">
            <a:extLst xmlns:a="http://schemas.openxmlformats.org/drawingml/2006/main">
              <a:ext uri="{FF2B5EF4-FFF2-40B4-BE49-F238E27FC236}">
                <a16:creationId xmlns:a16="http://schemas.microsoft.com/office/drawing/2014/main" id="{736EEC2D-FD63-45D3-AFE3-4E77711D8C05}"/>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Metodología · 1/3</a:t>
            </a:r>
          </a:p>
        </p:txBody>
      </p:sp>
      <p:sp>
        <p:nvSpPr>
          <p:cNvPr id="3" name="">
            <a:extLst xmlns:a="http://schemas.openxmlformats.org/drawingml/2006/main">
              <a:ext uri="{FF2B5EF4-FFF2-40B4-BE49-F238E27FC236}">
                <a16:creationId xmlns:a16="http://schemas.microsoft.com/office/drawing/2014/main" id="{C28C48CD-37FA-4131-9523-6AF283B0F73F}"/>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7408D7F-B2F4-4CD3-83A1-89BE63EFE13F}"/>
              </a:ext>
            </a:extLst>
          </p:cNvPr>
          <p:cNvSpPr>
            <a:spLocks xmlns:a="http://schemas.openxmlformats.org/drawingml/2006/main" noGrp="1"/>
          </p:cNvSpPr>
          <p:nvPr/>
        </p:nvSpPr>
        <p:spPr>
          <a:xfrm xmlns:a="http://schemas.openxmlformats.org/drawingml/2006/main">
            <a:off x="685800" y="1676400"/>
            <a:ext cx="762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F80"/>
                </a:solidFill>
                <a:latin typeface="Arial"/>
                <a:ea typeface="Arial"/>
                <a:cs typeface="Arial"/>
              </a:defRPr>
            </a:pPr>
            <a:r>
              <a:rPr sz="2775" b="1">
                <a:solidFill>
                  <a:srgbClr val="007F80"/>
                </a:solidFill>
                <a:latin typeface="Arial"/>
                <a:ea typeface="Arial"/>
                <a:cs typeface="Arial"/>
              </a:rPr>
              <a:t>rFFT → capa compleja → CReLU</a:t>
            </a:r>
          </a:p>
          <a:p xmlns:a="http://schemas.openxmlformats.org/drawingml/2006/main">
            <a:pPr>
              <a:defRPr sz="2775" b="1">
                <a:solidFill>
                  <a:srgbClr val="007F80"/>
                </a:solidFill>
                <a:latin typeface="Arial"/>
                <a:ea typeface="Arial"/>
                <a:cs typeface="Arial"/>
              </a:defRPr>
            </a:pPr>
            <a:r>
              <a:rPr sz="2775" b="1">
                <a:solidFill>
                  <a:srgbClr val="007F80"/>
                </a:solidFill>
                <a:latin typeface="Arial"/>
                <a:ea typeface="Arial"/>
                <a:cs typeface="Arial"/>
              </a:rPr>
              <a:t>→ capa compleja → irFFT</a:t>
            </a:r>
          </a:p>
        </p:txBody>
      </p:sp>
      <p:sp>
        <p:nvSpPr>
          <p:cNvPr id="5" name="">
            <a:extLst xmlns:a="http://schemas.openxmlformats.org/drawingml/2006/main">
              <a:ext uri="{FF2B5EF4-FFF2-40B4-BE49-F238E27FC236}">
                <a16:creationId xmlns:a16="http://schemas.microsoft.com/office/drawing/2014/main" id="{12486AEC-2EF6-4F22-9B33-12187400F65E}"/>
              </a:ext>
            </a:extLst>
          </p:cNvPr>
          <p:cNvSpPr>
            <a:spLocks xmlns:a="http://schemas.openxmlformats.org/drawingml/2006/main" noGrp="1"/>
          </p:cNvSpPr>
          <p:nvPr/>
        </p:nvSpPr>
        <p:spPr>
          <a:xfrm xmlns:a="http://schemas.openxmlformats.org/drawingml/2006/main">
            <a:off x="685800" y="3305175"/>
            <a:ext cx="752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448"/>
                </a:solidFill>
                <a:latin typeface="Arial"/>
                <a:ea typeface="Arial"/>
                <a:cs typeface="Arial"/>
              </a:defRPr>
            </a:pPr>
            <a:r>
              <a:rPr sz="2550" b="0">
                <a:solidFill>
                  <a:srgbClr val="173448"/>
                </a:solidFill>
                <a:latin typeface="Arial"/>
                <a:ea typeface="Arial"/>
                <a:cs typeface="Arial"/>
              </a:rPr>
              <a:t>12 variables → 7 componentes</a:t>
            </a:r>
          </a:p>
        </p:txBody>
      </p:sp>
      <p:sp>
        <p:nvSpPr>
          <p:cNvPr id="6" name="">
            <a:extLst xmlns:a="http://schemas.openxmlformats.org/drawingml/2006/main">
              <a:ext uri="{FF2B5EF4-FFF2-40B4-BE49-F238E27FC236}">
                <a16:creationId xmlns:a16="http://schemas.microsoft.com/office/drawing/2014/main" id="{553A4BC2-B7C8-4FFB-A181-EA1E048548B0}"/>
              </a:ext>
            </a:extLst>
          </p:cNvPr>
          <p:cNvSpPr>
            <a:spLocks xmlns:a="http://schemas.openxmlformats.org/drawingml/2006/main" noGrp="1"/>
          </p:cNvSpPr>
          <p:nvPr/>
        </p:nvSpPr>
        <p:spPr>
          <a:xfrm xmlns:a="http://schemas.openxmlformats.org/drawingml/2006/main">
            <a:off x="685800" y="43243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448"/>
                </a:solidFill>
                <a:latin typeface="Arial"/>
                <a:ea typeface="Arial"/>
                <a:cs typeface="Arial"/>
              </a:defRPr>
            </a:pPr>
            <a:r>
              <a:rPr sz="2250" b="0">
                <a:solidFill>
                  <a:srgbClr val="173448"/>
                </a:solidFill>
                <a:latin typeface="Arial"/>
                <a:ea typeface="Arial"/>
                <a:cs typeface="Arial"/>
              </a:rPr>
              <a:t>CReLU(a + ib) = ReLU(a) + i ReLU(b)</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a1ddc701f5b483d"/>
          <a:stretch xmlns:a="http://schemas.openxmlformats.org/drawingml/2006/main"/>
        </p:blipFill>
        <p:spPr>
          <a:xfrm xmlns:a="http://schemas.openxmlformats.org/drawingml/2006/main">
            <a:off x="8458200" y="1790567"/>
            <a:ext cx="2952750" cy="205766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3531D0C-8741-4E11-9417-42A8A596B641}"/>
              </a:ext>
            </a:extLst>
          </p:cNvPr>
          <p:cNvSpPr>
            <a:spLocks xmlns:a="http://schemas.openxmlformats.org/drawingml/2006/main" noGrp="1"/>
          </p:cNvSpPr>
          <p:nvPr/>
        </p:nvSpPr>
        <p:spPr>
          <a:xfrm xmlns:a="http://schemas.openxmlformats.org/drawingml/2006/main">
            <a:off x="685800" y="53911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448"/>
                </a:solidFill>
                <a:latin typeface="Arial"/>
                <a:ea typeface="Arial"/>
                <a:cs typeface="Arial"/>
              </a:defRPr>
            </a:pPr>
            <a:r>
              <a:rPr sz="2250" b="1">
                <a:solidFill>
                  <a:srgbClr val="173448"/>
                </a:solidFill>
                <a:latin typeface="Arial"/>
                <a:ea typeface="Arial"/>
                <a:cs typeface="Arial"/>
              </a:rPr>
              <a:t>La transformación actúa sobre las variables</a:t>
            </a:r>
          </a:p>
        </p:txBody>
      </p:sp>
    </p:spTree>
    <p:extLst>
      <p:ext uri="{BB962C8B-B14F-4D97-AF65-F5344CB8AC3E}">
        <p14:creationId xmlns:p14="http://schemas.microsoft.com/office/powerpoint/2010/main" val="1255954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8F3256-3F3F-4EA7-8396-DBFF00BF2706}"/>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Cinco modelos, un mismo objetivo</a:t>
            </a:r>
          </a:p>
        </p:txBody>
      </p:sp>
      <p:sp>
        <p:nvSpPr>
          <p:cNvPr id="2" name="">
            <a:extLst xmlns:a="http://schemas.openxmlformats.org/drawingml/2006/main">
              <a:ext uri="{FF2B5EF4-FFF2-40B4-BE49-F238E27FC236}">
                <a16:creationId xmlns:a16="http://schemas.microsoft.com/office/drawing/2014/main" id="{F0918081-772B-4153-9971-4438338463B3}"/>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Metodología · 1/3</a:t>
            </a:r>
          </a:p>
        </p:txBody>
      </p:sp>
      <p:sp>
        <p:nvSpPr>
          <p:cNvPr id="3" name="">
            <a:extLst xmlns:a="http://schemas.openxmlformats.org/drawingml/2006/main">
              <a:ext uri="{FF2B5EF4-FFF2-40B4-BE49-F238E27FC236}">
                <a16:creationId xmlns:a16="http://schemas.microsoft.com/office/drawing/2014/main" id="{00898A81-9D41-4942-A2B1-891F0C429720}"/>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5AB56C3-26CA-44A4-A558-93C9ABC715D9}"/>
              </a:ext>
            </a:extLst>
          </p:cNvPr>
          <p:cNvSpPr>
            <a:spLocks xmlns:a="http://schemas.openxmlformats.org/drawingml/2006/main" noGrp="1"/>
          </p:cNvSpPr>
          <p:nvPr/>
        </p:nvSpPr>
        <p:spPr>
          <a:xfrm xmlns:a="http://schemas.openxmlformats.org/drawingml/2006/main">
            <a:off x="723900" y="15906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LSTM</a:t>
            </a:r>
          </a:p>
        </p:txBody>
      </p:sp>
      <p:sp>
        <p:nvSpPr>
          <p:cNvPr id="5" name="">
            <a:extLst xmlns:a="http://schemas.openxmlformats.org/drawingml/2006/main">
              <a:ext uri="{FF2B5EF4-FFF2-40B4-BE49-F238E27FC236}">
                <a16:creationId xmlns:a16="http://schemas.microsoft.com/office/drawing/2014/main" id="{BE9B84D4-E3D0-4929-AE77-63AAA70D1D40}"/>
              </a:ext>
            </a:extLst>
          </p:cNvPr>
          <p:cNvSpPr>
            <a:spLocks xmlns:a="http://schemas.openxmlformats.org/drawingml/2006/main" noGrp="1"/>
          </p:cNvSpPr>
          <p:nvPr/>
        </p:nvSpPr>
        <p:spPr>
          <a:xfrm xmlns:a="http://schemas.openxmlformats.org/drawingml/2006/main">
            <a:off x="3810000" y="15906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Historia directamente a la LSTM</a:t>
            </a:r>
          </a:p>
        </p:txBody>
      </p:sp>
      <p:sp>
        <p:nvSpPr>
          <p:cNvPr id="6" name="">
            <a:extLst xmlns:a="http://schemas.openxmlformats.org/drawingml/2006/main">
              <a:ext uri="{FF2B5EF4-FFF2-40B4-BE49-F238E27FC236}">
                <a16:creationId xmlns:a16="http://schemas.microsoft.com/office/drawing/2014/main" id="{73631E9D-7789-4590-A733-573BF059671E}"/>
              </a:ext>
            </a:extLst>
          </p:cNvPr>
          <p:cNvSpPr>
            <a:spLocks xmlns:a="http://schemas.openxmlformats.org/drawingml/2006/main" noGrp="1"/>
          </p:cNvSpPr>
          <p:nvPr/>
        </p:nvSpPr>
        <p:spPr>
          <a:xfrm xmlns:a="http://schemas.openxmlformats.org/drawingml/2006/main">
            <a:off x="723900" y="24003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AM-LSTM</a:t>
            </a:r>
          </a:p>
        </p:txBody>
      </p:sp>
      <p:sp>
        <p:nvSpPr>
          <p:cNvPr id="7" name="">
            <a:extLst xmlns:a="http://schemas.openxmlformats.org/drawingml/2006/main">
              <a:ext uri="{FF2B5EF4-FFF2-40B4-BE49-F238E27FC236}">
                <a16:creationId xmlns:a16="http://schemas.microsoft.com/office/drawing/2014/main" id="{9554B6EA-7996-4AC9-8D41-1DF399E3AF43}"/>
              </a:ext>
            </a:extLst>
          </p:cNvPr>
          <p:cNvSpPr>
            <a:spLocks xmlns:a="http://schemas.openxmlformats.org/drawingml/2006/main" noGrp="1"/>
          </p:cNvSpPr>
          <p:nvPr/>
        </p:nvSpPr>
        <p:spPr>
          <a:xfrm xmlns:a="http://schemas.openxmlformats.org/drawingml/2006/main">
            <a:off x="3810000" y="240030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Atención entre variables</a:t>
            </a:r>
          </a:p>
        </p:txBody>
      </p:sp>
      <p:sp>
        <p:nvSpPr>
          <p:cNvPr id="8" name="">
            <a:extLst xmlns:a="http://schemas.openxmlformats.org/drawingml/2006/main">
              <a:ext uri="{FF2B5EF4-FFF2-40B4-BE49-F238E27FC236}">
                <a16:creationId xmlns:a16="http://schemas.microsoft.com/office/drawing/2014/main" id="{D357DBC8-4B83-47BC-9B67-F69DB56E9712}"/>
              </a:ext>
            </a:extLst>
          </p:cNvPr>
          <p:cNvSpPr>
            <a:spLocks xmlns:a="http://schemas.openxmlformats.org/drawingml/2006/main" noGrp="1"/>
          </p:cNvSpPr>
          <p:nvPr/>
        </p:nvSpPr>
        <p:spPr>
          <a:xfrm xmlns:a="http://schemas.openxmlformats.org/drawingml/2006/main">
            <a:off x="723900" y="32099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CNN-LSTM</a:t>
            </a:r>
          </a:p>
        </p:txBody>
      </p:sp>
      <p:sp>
        <p:nvSpPr>
          <p:cNvPr id="9" name="">
            <a:extLst xmlns:a="http://schemas.openxmlformats.org/drawingml/2006/main">
              <a:ext uri="{FF2B5EF4-FFF2-40B4-BE49-F238E27FC236}">
                <a16:creationId xmlns:a16="http://schemas.microsoft.com/office/drawing/2014/main" id="{6B3D5D02-0920-4677-97CB-755FE472EA04}"/>
              </a:ext>
            </a:extLst>
          </p:cNvPr>
          <p:cNvSpPr>
            <a:spLocks xmlns:a="http://schemas.openxmlformats.org/drawingml/2006/main" noGrp="1"/>
          </p:cNvSpPr>
          <p:nvPr/>
        </p:nvSpPr>
        <p:spPr>
          <a:xfrm xmlns:a="http://schemas.openxmlformats.org/drawingml/2006/main">
            <a:off x="3810000" y="32099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Convolución sobre variables</a:t>
            </a:r>
          </a:p>
        </p:txBody>
      </p:sp>
      <p:sp>
        <p:nvSpPr>
          <p:cNvPr id="10" name="">
            <a:extLst xmlns:a="http://schemas.openxmlformats.org/drawingml/2006/main">
              <a:ext uri="{FF2B5EF4-FFF2-40B4-BE49-F238E27FC236}">
                <a16:creationId xmlns:a16="http://schemas.microsoft.com/office/drawing/2014/main" id="{05B991F4-5B9F-4A72-B8D1-F4EDE0F2E1CC}"/>
              </a:ext>
            </a:extLst>
          </p:cNvPr>
          <p:cNvSpPr>
            <a:spLocks xmlns:a="http://schemas.openxmlformats.org/drawingml/2006/main" noGrp="1"/>
          </p:cNvSpPr>
          <p:nvPr/>
        </p:nvSpPr>
        <p:spPr>
          <a:xfrm xmlns:a="http://schemas.openxmlformats.org/drawingml/2006/main">
            <a:off x="723900" y="40195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GNN-LSTM</a:t>
            </a:r>
          </a:p>
        </p:txBody>
      </p:sp>
      <p:sp>
        <p:nvSpPr>
          <p:cNvPr id="11" name="">
            <a:extLst xmlns:a="http://schemas.openxmlformats.org/drawingml/2006/main">
              <a:ext uri="{FF2B5EF4-FFF2-40B4-BE49-F238E27FC236}">
                <a16:creationId xmlns:a16="http://schemas.microsoft.com/office/drawing/2014/main" id="{03CC6216-B7E8-43CF-902F-F19017329F13}"/>
              </a:ext>
            </a:extLst>
          </p:cNvPr>
          <p:cNvSpPr>
            <a:spLocks xmlns:a="http://schemas.openxmlformats.org/drawingml/2006/main" noGrp="1"/>
          </p:cNvSpPr>
          <p:nvPr/>
        </p:nvSpPr>
        <p:spPr>
          <a:xfrm xmlns:a="http://schemas.openxmlformats.org/drawingml/2006/main">
            <a:off x="3810000" y="40195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Grafo aprendido de variables</a:t>
            </a:r>
          </a:p>
        </p:txBody>
      </p:sp>
      <p:sp>
        <p:nvSpPr>
          <p:cNvPr id="12" name="">
            <a:extLst xmlns:a="http://schemas.openxmlformats.org/drawingml/2006/main">
              <a:ext uri="{FF2B5EF4-FFF2-40B4-BE49-F238E27FC236}">
                <a16:creationId xmlns:a16="http://schemas.microsoft.com/office/drawing/2014/main" id="{75983EEE-BC52-4C87-A5EC-40B25AA1CE86}"/>
              </a:ext>
            </a:extLst>
          </p:cNvPr>
          <p:cNvSpPr>
            <a:spLocks xmlns:a="http://schemas.openxmlformats.org/drawingml/2006/main" noGrp="1"/>
          </p:cNvSpPr>
          <p:nvPr/>
        </p:nvSpPr>
        <p:spPr>
          <a:xfrm xmlns:a="http://schemas.openxmlformats.org/drawingml/2006/main">
            <a:off x="723900" y="48291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FDMLP-LSTM</a:t>
            </a:r>
          </a:p>
        </p:txBody>
      </p:sp>
      <p:sp>
        <p:nvSpPr>
          <p:cNvPr id="13" name="">
            <a:extLst xmlns:a="http://schemas.openxmlformats.org/drawingml/2006/main">
              <a:ext uri="{FF2B5EF4-FFF2-40B4-BE49-F238E27FC236}">
                <a16:creationId xmlns:a16="http://schemas.microsoft.com/office/drawing/2014/main" id="{52AE5834-C43A-4508-8C62-69E0C4E32D25}"/>
              </a:ext>
            </a:extLst>
          </p:cNvPr>
          <p:cNvSpPr>
            <a:spLocks xmlns:a="http://schemas.openxmlformats.org/drawingml/2006/main" noGrp="1"/>
          </p:cNvSpPr>
          <p:nvPr/>
        </p:nvSpPr>
        <p:spPr>
          <a:xfrm xmlns:a="http://schemas.openxmlformats.org/drawingml/2006/main">
            <a:off x="3810000" y="48291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Aprendizaje en el dominio frecuencial</a:t>
            </a:r>
          </a:p>
        </p:txBody>
      </p:sp>
    </p:spTree>
    <p:extLst>
      <p:ext uri="{BB962C8B-B14F-4D97-AF65-F5344CB8AC3E}">
        <p14:creationId xmlns:p14="http://schemas.microsoft.com/office/powerpoint/2010/main" val="8827123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41E18A-97C4-49FA-B6CC-0321621A0C9A}"/>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Datos y particiones</a:t>
            </a:r>
          </a:p>
        </p:txBody>
      </p:sp>
      <p:sp>
        <p:nvSpPr>
          <p:cNvPr id="2" name="">
            <a:extLst xmlns:a="http://schemas.openxmlformats.org/drawingml/2006/main">
              <a:ext uri="{FF2B5EF4-FFF2-40B4-BE49-F238E27FC236}">
                <a16:creationId xmlns:a16="http://schemas.microsoft.com/office/drawing/2014/main" id="{0E003D2F-04D4-4525-95DB-446C741844BC}"/>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Implementación · 2/3</a:t>
            </a:r>
          </a:p>
        </p:txBody>
      </p:sp>
      <p:sp>
        <p:nvSpPr>
          <p:cNvPr id="3" name="">
            <a:extLst xmlns:a="http://schemas.openxmlformats.org/drawingml/2006/main">
              <a:ext uri="{FF2B5EF4-FFF2-40B4-BE49-F238E27FC236}">
                <a16:creationId xmlns:a16="http://schemas.microsoft.com/office/drawing/2014/main" id="{07EC1E25-AF2E-442B-AC26-910D634886AA}"/>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5F53723E-73C7-469B-B7BA-EE3B0CE125C6}"/>
              </a:ext>
            </a:extLst>
          </p:cNvPr>
          <p:cNvSpPr>
            <a:spLocks xmlns:a="http://schemas.openxmlformats.org/drawingml/2006/main" noGrp="1"/>
          </p:cNvSpPr>
          <p:nvPr/>
        </p:nvSpPr>
        <p:spPr>
          <a:xfrm xmlns:a="http://schemas.openxmlformats.org/drawingml/2006/main">
            <a:off x="685800" y="1857375"/>
            <a:ext cx="3810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07F80"/>
                </a:solidFill>
                <a:latin typeface="Arial"/>
                <a:ea typeface="Arial"/>
                <a:cs typeface="Arial"/>
              </a:defRPr>
            </a:pPr>
            <a:r>
              <a:rPr sz="4800" b="1">
                <a:solidFill>
                  <a:srgbClr val="007F80"/>
                </a:solidFill>
                <a:latin typeface="Arial"/>
                <a:ea typeface="Arial"/>
                <a:cs typeface="Arial"/>
              </a:rPr>
              <a:t>254.000</a:t>
            </a:r>
          </a:p>
        </p:txBody>
      </p:sp>
      <p:sp>
        <p:nvSpPr>
          <p:cNvPr id="5" name="">
            <a:extLst xmlns:a="http://schemas.openxmlformats.org/drawingml/2006/main">
              <a:ext uri="{FF2B5EF4-FFF2-40B4-BE49-F238E27FC236}">
                <a16:creationId xmlns:a16="http://schemas.microsoft.com/office/drawing/2014/main" id="{0A1A4604-7842-4190-87A9-44658C06B526}"/>
              </a:ext>
            </a:extLst>
          </p:cNvPr>
          <p:cNvSpPr>
            <a:spLocks xmlns:a="http://schemas.openxmlformats.org/drawingml/2006/main" noGrp="1"/>
          </p:cNvSpPr>
          <p:nvPr/>
        </p:nvSpPr>
        <p:spPr>
          <a:xfrm xmlns:a="http://schemas.openxmlformats.org/drawingml/2006/main">
            <a:off x="685800" y="282892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Entrenamiento</a:t>
            </a:r>
          </a:p>
        </p:txBody>
      </p:sp>
      <p:sp>
        <p:nvSpPr>
          <p:cNvPr id="6" name="">
            <a:extLst xmlns:a="http://schemas.openxmlformats.org/drawingml/2006/main">
              <a:ext uri="{FF2B5EF4-FFF2-40B4-BE49-F238E27FC236}">
                <a16:creationId xmlns:a16="http://schemas.microsoft.com/office/drawing/2014/main" id="{28A1DD78-929D-430C-842A-4DB7A4412A5C}"/>
              </a:ext>
            </a:extLst>
          </p:cNvPr>
          <p:cNvSpPr>
            <a:spLocks xmlns:a="http://schemas.openxmlformats.org/drawingml/2006/main" noGrp="1"/>
          </p:cNvSpPr>
          <p:nvPr/>
        </p:nvSpPr>
        <p:spPr>
          <a:xfrm xmlns:a="http://schemas.openxmlformats.org/drawingml/2006/main">
            <a:off x="4695825" y="1857375"/>
            <a:ext cx="333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07F80"/>
                </a:solidFill>
                <a:latin typeface="Arial"/>
                <a:ea typeface="Arial"/>
                <a:cs typeface="Arial"/>
              </a:defRPr>
            </a:pPr>
            <a:r>
              <a:rPr sz="4800" b="1">
                <a:solidFill>
                  <a:srgbClr val="007F80"/>
                </a:solidFill>
                <a:latin typeface="Arial"/>
                <a:ea typeface="Arial"/>
                <a:cs typeface="Arial"/>
              </a:rPr>
              <a:t>18.142</a:t>
            </a:r>
          </a:p>
        </p:txBody>
      </p:sp>
      <p:sp>
        <p:nvSpPr>
          <p:cNvPr id="7" name="">
            <a:extLst xmlns:a="http://schemas.openxmlformats.org/drawingml/2006/main">
              <a:ext uri="{FF2B5EF4-FFF2-40B4-BE49-F238E27FC236}">
                <a16:creationId xmlns:a16="http://schemas.microsoft.com/office/drawing/2014/main" id="{7E031CB3-A832-41DA-B78F-DF40436B6A51}"/>
              </a:ext>
            </a:extLst>
          </p:cNvPr>
          <p:cNvSpPr>
            <a:spLocks xmlns:a="http://schemas.openxmlformats.org/drawingml/2006/main" noGrp="1"/>
          </p:cNvSpPr>
          <p:nvPr/>
        </p:nvSpPr>
        <p:spPr>
          <a:xfrm xmlns:a="http://schemas.openxmlformats.org/drawingml/2006/main">
            <a:off x="4695825" y="28289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Validación</a:t>
            </a:r>
          </a:p>
        </p:txBody>
      </p:sp>
      <p:sp>
        <p:nvSpPr>
          <p:cNvPr id="8" name="">
            <a:extLst xmlns:a="http://schemas.openxmlformats.org/drawingml/2006/main">
              <a:ext uri="{FF2B5EF4-FFF2-40B4-BE49-F238E27FC236}">
                <a16:creationId xmlns:a16="http://schemas.microsoft.com/office/drawing/2014/main" id="{8A99738D-9BC6-4A70-B3FA-5E439EF0370F}"/>
              </a:ext>
            </a:extLst>
          </p:cNvPr>
          <p:cNvSpPr>
            <a:spLocks xmlns:a="http://schemas.openxmlformats.org/drawingml/2006/main" noGrp="1"/>
          </p:cNvSpPr>
          <p:nvPr/>
        </p:nvSpPr>
        <p:spPr>
          <a:xfrm xmlns:a="http://schemas.openxmlformats.org/drawingml/2006/main">
            <a:off x="8486775" y="1857375"/>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07F80"/>
                </a:solidFill>
                <a:latin typeface="Arial"/>
                <a:ea typeface="Arial"/>
                <a:cs typeface="Arial"/>
              </a:defRPr>
            </a:pPr>
            <a:r>
              <a:rPr sz="4800" b="1">
                <a:solidFill>
                  <a:srgbClr val="007F80"/>
                </a:solidFill>
                <a:latin typeface="Arial"/>
                <a:ea typeface="Arial"/>
                <a:cs typeface="Arial"/>
              </a:rPr>
              <a:t>27.983</a:t>
            </a:r>
          </a:p>
        </p:txBody>
      </p:sp>
      <p:sp>
        <p:nvSpPr>
          <p:cNvPr id="9" name="">
            <a:extLst xmlns:a="http://schemas.openxmlformats.org/drawingml/2006/main">
              <a:ext uri="{FF2B5EF4-FFF2-40B4-BE49-F238E27FC236}">
                <a16:creationId xmlns:a16="http://schemas.microsoft.com/office/drawing/2014/main" id="{4C7B4BC6-411C-40D5-B6AA-A2AD375F8622}"/>
              </a:ext>
            </a:extLst>
          </p:cNvPr>
          <p:cNvSpPr>
            <a:spLocks xmlns:a="http://schemas.openxmlformats.org/drawingml/2006/main" noGrp="1"/>
          </p:cNvSpPr>
          <p:nvPr/>
        </p:nvSpPr>
        <p:spPr>
          <a:xfrm xmlns:a="http://schemas.openxmlformats.org/drawingml/2006/main">
            <a:off x="8486775" y="28289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Test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6f0ab6455fb4d5f"/>
          <a:stretch xmlns:a="http://schemas.openxmlformats.org/drawingml/2006/main"/>
        </p:blipFill>
        <p:spPr>
          <a:xfrm xmlns:a="http://schemas.openxmlformats.org/drawingml/2006/main">
            <a:off x="733425" y="4362450"/>
            <a:ext cx="857250" cy="857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DFC0E63-EA49-4433-AC93-B6478D1B37F7}"/>
              </a:ext>
            </a:extLst>
          </p:cNvPr>
          <p:cNvSpPr>
            <a:spLocks xmlns:a="http://schemas.openxmlformats.org/drawingml/2006/main" noGrp="1"/>
          </p:cNvSpPr>
          <p:nvPr/>
        </p:nvSpPr>
        <p:spPr>
          <a:xfrm xmlns:a="http://schemas.openxmlformats.org/drawingml/2006/main">
            <a:off x="1933575" y="443865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448"/>
                </a:solidFill>
                <a:latin typeface="Arial"/>
                <a:ea typeface="Arial"/>
                <a:cs typeface="Arial"/>
              </a:defRPr>
            </a:pPr>
            <a:r>
              <a:rPr sz="3225" b="1">
                <a:solidFill>
                  <a:srgbClr val="173448"/>
                </a:solidFill>
                <a:latin typeface="Arial"/>
                <a:ea typeface="Arial"/>
                <a:cs typeface="Arial"/>
              </a:rPr>
              <a:t>508 cuencas</a:t>
            </a:r>
          </a:p>
        </p:txBody>
      </p:sp>
      <p:sp>
        <p:nvSpPr>
          <p:cNvPr id="12" name="">
            <a:extLst xmlns:a="http://schemas.openxmlformats.org/drawingml/2006/main">
              <a:ext uri="{FF2B5EF4-FFF2-40B4-BE49-F238E27FC236}">
                <a16:creationId xmlns:a16="http://schemas.microsoft.com/office/drawing/2014/main" id="{49B6ED37-F213-45CC-93BF-4F094875D60D}"/>
              </a:ext>
            </a:extLst>
          </p:cNvPr>
          <p:cNvSpPr>
            <a:spLocks xmlns:a="http://schemas.openxmlformats.org/drawingml/2006/main" noGrp="1"/>
          </p:cNvSpPr>
          <p:nvPr/>
        </p:nvSpPr>
        <p:spPr>
          <a:xfrm xmlns:a="http://schemas.openxmlformats.org/drawingml/2006/main">
            <a:off x="1943100" y="5248275"/>
            <a:ext cx="9191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0717D"/>
                </a:solidFill>
                <a:latin typeface="Arial"/>
                <a:ea typeface="Arial"/>
                <a:cs typeface="Arial"/>
              </a:defRPr>
            </a:pPr>
            <a:r>
              <a:rPr sz="2100" b="0">
                <a:solidFill>
                  <a:srgbClr val="60717D"/>
                </a:solidFill>
                <a:latin typeface="Arial"/>
                <a:ea typeface="Arial"/>
                <a:cs typeface="Arial"/>
              </a:rPr>
              <a:t>Particiones entregadas · sin reconstruir series</a:t>
            </a:r>
          </a:p>
        </p:txBody>
      </p:sp>
    </p:spTree>
    <p:extLst>
      <p:ext uri="{BB962C8B-B14F-4D97-AF65-F5344CB8AC3E}">
        <p14:creationId xmlns:p14="http://schemas.microsoft.com/office/powerpoint/2010/main" val="14240250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281173-1121-4D47-BB1B-6B6E449C6874}"/>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Preprocesamiento sin información futura</a:t>
            </a:r>
          </a:p>
        </p:txBody>
      </p:sp>
      <p:sp>
        <p:nvSpPr>
          <p:cNvPr id="2" name="">
            <a:extLst xmlns:a="http://schemas.openxmlformats.org/drawingml/2006/main">
              <a:ext uri="{FF2B5EF4-FFF2-40B4-BE49-F238E27FC236}">
                <a16:creationId xmlns:a16="http://schemas.microsoft.com/office/drawing/2014/main" id="{C966144C-87E3-42DF-8BB3-675BA4CF669B}"/>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Implementación · 2/3</a:t>
            </a:r>
          </a:p>
        </p:txBody>
      </p:sp>
      <p:sp>
        <p:nvSpPr>
          <p:cNvPr id="3" name="">
            <a:extLst xmlns:a="http://schemas.openxmlformats.org/drawingml/2006/main">
              <a:ext uri="{FF2B5EF4-FFF2-40B4-BE49-F238E27FC236}">
                <a16:creationId xmlns:a16="http://schemas.microsoft.com/office/drawing/2014/main" id="{A5456F2E-280C-47A8-B97E-D84EEDCF6795}"/>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c334fa61a248fd"/>
          <a:stretch xmlns:a="http://schemas.openxmlformats.org/drawingml/2006/main"/>
        </p:blipFill>
        <p:spPr>
          <a:xfrm xmlns:a="http://schemas.openxmlformats.org/drawingml/2006/main">
            <a:off x="733425" y="1638300"/>
            <a:ext cx="923925" cy="923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512D313-3101-4622-8DE0-E6AEECD8C0B4}"/>
              </a:ext>
            </a:extLst>
          </p:cNvPr>
          <p:cNvSpPr>
            <a:spLocks xmlns:a="http://schemas.openxmlformats.org/drawingml/2006/main" noGrp="1"/>
          </p:cNvSpPr>
          <p:nvPr/>
        </p:nvSpPr>
        <p:spPr>
          <a:xfrm xmlns:a="http://schemas.openxmlformats.org/drawingml/2006/main">
            <a:off x="2057400" y="1771650"/>
            <a:ext cx="9324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7F80"/>
                </a:solidFill>
                <a:latin typeface="Arial"/>
                <a:ea typeface="Arial"/>
                <a:cs typeface="Arial"/>
              </a:defRPr>
            </a:pPr>
            <a:r>
              <a:rPr sz="3000" b="1">
                <a:solidFill>
                  <a:srgbClr val="007F80"/>
                </a:solidFill>
                <a:latin typeface="Arial"/>
                <a:ea typeface="Arial"/>
                <a:cs typeface="Arial"/>
              </a:rPr>
              <a:t>Ajuste exclusivo con entrenamiento</a:t>
            </a:r>
          </a:p>
        </p:txBody>
      </p:sp>
      <p:sp>
        <p:nvSpPr>
          <p:cNvPr id="6" name="">
            <a:extLst xmlns:a="http://schemas.openxmlformats.org/drawingml/2006/main">
              <a:ext uri="{FF2B5EF4-FFF2-40B4-BE49-F238E27FC236}">
                <a16:creationId xmlns:a16="http://schemas.microsoft.com/office/drawing/2014/main" id="{82E3DE0D-0AE4-4A42-9843-1B00E36B0F4D}"/>
              </a:ext>
            </a:extLst>
          </p:cNvPr>
          <p:cNvSpPr>
            <a:spLocks xmlns:a="http://schemas.openxmlformats.org/drawingml/2006/main" noGrp="1"/>
          </p:cNvSpPr>
          <p:nvPr/>
        </p:nvSpPr>
        <p:spPr>
          <a:xfrm xmlns:a="http://schemas.openxmlformats.org/drawingml/2006/main">
            <a:off x="723900" y="31813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Normalización</a:t>
            </a:r>
          </a:p>
        </p:txBody>
      </p:sp>
      <p:sp>
        <p:nvSpPr>
          <p:cNvPr id="7" name="">
            <a:extLst xmlns:a="http://schemas.openxmlformats.org/drawingml/2006/main">
              <a:ext uri="{FF2B5EF4-FFF2-40B4-BE49-F238E27FC236}">
                <a16:creationId xmlns:a16="http://schemas.microsoft.com/office/drawing/2014/main" id="{03C964A3-FCD8-4787-B06E-5276F3DEE529}"/>
              </a:ext>
            </a:extLst>
          </p:cNvPr>
          <p:cNvSpPr>
            <a:spLocks xmlns:a="http://schemas.openxmlformats.org/drawingml/2006/main" noGrp="1"/>
          </p:cNvSpPr>
          <p:nvPr/>
        </p:nvSpPr>
        <p:spPr>
          <a:xfrm xmlns:a="http://schemas.openxmlformats.org/drawingml/2006/main">
            <a:off x="3810000" y="31813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Estadísticas de split = 0</a:t>
            </a:r>
          </a:p>
        </p:txBody>
      </p:sp>
      <p:sp>
        <p:nvSpPr>
          <p:cNvPr id="8" name="">
            <a:extLst xmlns:a="http://schemas.openxmlformats.org/drawingml/2006/main">
              <a:ext uri="{FF2B5EF4-FFF2-40B4-BE49-F238E27FC236}">
                <a16:creationId xmlns:a16="http://schemas.microsoft.com/office/drawing/2014/main" id="{2730B0C9-4784-4C26-9E77-1548530920B8}"/>
              </a:ext>
            </a:extLst>
          </p:cNvPr>
          <p:cNvSpPr>
            <a:spLocks xmlns:a="http://schemas.openxmlformats.org/drawingml/2006/main" noGrp="1"/>
          </p:cNvSpPr>
          <p:nvPr/>
        </p:nvSpPr>
        <p:spPr>
          <a:xfrm xmlns:a="http://schemas.openxmlformats.org/drawingml/2006/main">
            <a:off x="723900" y="40767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Selección LASSO</a:t>
            </a:r>
          </a:p>
        </p:txBody>
      </p:sp>
      <p:sp>
        <p:nvSpPr>
          <p:cNvPr id="9" name="">
            <a:extLst xmlns:a="http://schemas.openxmlformats.org/drawingml/2006/main">
              <a:ext uri="{FF2B5EF4-FFF2-40B4-BE49-F238E27FC236}">
                <a16:creationId xmlns:a16="http://schemas.microsoft.com/office/drawing/2014/main" id="{22DAACDF-CBFF-40B8-9A59-95B65B786A5B}"/>
              </a:ext>
            </a:extLst>
          </p:cNvPr>
          <p:cNvSpPr>
            <a:spLocks xmlns:a="http://schemas.openxmlformats.org/drawingml/2006/main" noGrp="1"/>
          </p:cNvSpPr>
          <p:nvPr/>
        </p:nvSpPr>
        <p:spPr>
          <a:xfrm xmlns:a="http://schemas.openxmlformats.org/drawingml/2006/main">
            <a:off x="3810000" y="407670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Validación cruzada por cuenca</a:t>
            </a:r>
          </a:p>
        </p:txBody>
      </p:sp>
      <p:sp>
        <p:nvSpPr>
          <p:cNvPr id="10" name="">
            <a:extLst xmlns:a="http://schemas.openxmlformats.org/drawingml/2006/main">
              <a:ext uri="{FF2B5EF4-FFF2-40B4-BE49-F238E27FC236}">
                <a16:creationId xmlns:a16="http://schemas.microsoft.com/office/drawing/2014/main" id="{BF1AE7A5-2E6C-411D-8F0B-9801996ABAE7}"/>
              </a:ext>
            </a:extLst>
          </p:cNvPr>
          <p:cNvSpPr>
            <a:spLocks xmlns:a="http://schemas.openxmlformats.org/drawingml/2006/main" noGrp="1"/>
          </p:cNvSpPr>
          <p:nvPr/>
        </p:nvSpPr>
        <p:spPr>
          <a:xfrm xmlns:a="http://schemas.openxmlformats.org/drawingml/2006/main">
            <a:off x="723900" y="49720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Entradas históricas</a:t>
            </a:r>
          </a:p>
        </p:txBody>
      </p:sp>
      <p:sp>
        <p:nvSpPr>
          <p:cNvPr id="11" name="">
            <a:extLst xmlns:a="http://schemas.openxmlformats.org/drawingml/2006/main">
              <a:ext uri="{FF2B5EF4-FFF2-40B4-BE49-F238E27FC236}">
                <a16:creationId xmlns:a16="http://schemas.microsoft.com/office/drawing/2014/main" id="{18E60FF6-C70A-4D4F-81F0-0CBD75CE0D54}"/>
              </a:ext>
            </a:extLst>
          </p:cNvPr>
          <p:cNvSpPr>
            <a:spLocks xmlns:a="http://schemas.openxmlformats.org/drawingml/2006/main" noGrp="1"/>
          </p:cNvSpPr>
          <p:nvPr/>
        </p:nvSpPr>
        <p:spPr>
          <a:xfrm xmlns:a="http://schemas.openxmlformats.org/drawingml/2006/main">
            <a:off x="3810000" y="49720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Sin y_aux ni etiquetas de test</a:t>
            </a:r>
          </a:p>
        </p:txBody>
      </p:sp>
    </p:spTree>
    <p:extLst>
      <p:ext uri="{BB962C8B-B14F-4D97-AF65-F5344CB8AC3E}">
        <p14:creationId xmlns:p14="http://schemas.microsoft.com/office/powerpoint/2010/main" val="21240783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B7346AA-5FF8-455B-B0E9-51BCB0F74B30}"/>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Condiciones comparables</a:t>
            </a:r>
          </a:p>
        </p:txBody>
      </p:sp>
      <p:sp>
        <p:nvSpPr>
          <p:cNvPr id="2" name="">
            <a:extLst xmlns:a="http://schemas.openxmlformats.org/drawingml/2006/main">
              <a:ext uri="{FF2B5EF4-FFF2-40B4-BE49-F238E27FC236}">
                <a16:creationId xmlns:a16="http://schemas.microsoft.com/office/drawing/2014/main" id="{44A01BEC-5112-4851-8C16-DEAD6EFA3A9A}"/>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Implementación · 2/3</a:t>
            </a:r>
          </a:p>
        </p:txBody>
      </p:sp>
      <p:sp>
        <p:nvSpPr>
          <p:cNvPr id="3" name="">
            <a:extLst xmlns:a="http://schemas.openxmlformats.org/drawingml/2006/main">
              <a:ext uri="{FF2B5EF4-FFF2-40B4-BE49-F238E27FC236}">
                <a16:creationId xmlns:a16="http://schemas.microsoft.com/office/drawing/2014/main" id="{B7B59B8C-A424-45F5-8BFA-33C7449011C7}"/>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F34ED30-C54E-4F39-B7AD-1FB587108308}"/>
              </a:ext>
            </a:extLst>
          </p:cNvPr>
          <p:cNvSpPr>
            <a:spLocks xmlns:a="http://schemas.openxmlformats.org/drawingml/2006/main" noGrp="1"/>
          </p:cNvSpPr>
          <p:nvPr/>
        </p:nvSpPr>
        <p:spPr>
          <a:xfrm xmlns:a="http://schemas.openxmlformats.org/drawingml/2006/main">
            <a:off x="723900" y="16954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64</a:t>
            </a:r>
          </a:p>
        </p:txBody>
      </p:sp>
      <p:sp>
        <p:nvSpPr>
          <p:cNvPr id="5" name="">
            <a:extLst xmlns:a="http://schemas.openxmlformats.org/drawingml/2006/main">
              <a:ext uri="{FF2B5EF4-FFF2-40B4-BE49-F238E27FC236}">
                <a16:creationId xmlns:a16="http://schemas.microsoft.com/office/drawing/2014/main" id="{8D773929-5AFE-4D1A-83D9-EB653879F0E7}"/>
              </a:ext>
            </a:extLst>
          </p:cNvPr>
          <p:cNvSpPr>
            <a:spLocks xmlns:a="http://schemas.openxmlformats.org/drawingml/2006/main" noGrp="1"/>
          </p:cNvSpPr>
          <p:nvPr/>
        </p:nvSpPr>
        <p:spPr>
          <a:xfrm xmlns:a="http://schemas.openxmlformats.org/drawingml/2006/main">
            <a:off x="723900" y="2667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Batch size</a:t>
            </a:r>
          </a:p>
        </p:txBody>
      </p:sp>
      <p:sp>
        <p:nvSpPr>
          <p:cNvPr id="6" name="">
            <a:extLst xmlns:a="http://schemas.openxmlformats.org/drawingml/2006/main">
              <a:ext uri="{FF2B5EF4-FFF2-40B4-BE49-F238E27FC236}">
                <a16:creationId xmlns:a16="http://schemas.microsoft.com/office/drawing/2014/main" id="{3E684676-AE5F-4715-ABCC-327DE791A920}"/>
              </a:ext>
            </a:extLst>
          </p:cNvPr>
          <p:cNvSpPr>
            <a:spLocks xmlns:a="http://schemas.openxmlformats.org/drawingml/2006/main" noGrp="1"/>
          </p:cNvSpPr>
          <p:nvPr/>
        </p:nvSpPr>
        <p:spPr>
          <a:xfrm xmlns:a="http://schemas.openxmlformats.org/drawingml/2006/main">
            <a:off x="4524375" y="16954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200</a:t>
            </a:r>
          </a:p>
        </p:txBody>
      </p:sp>
      <p:sp>
        <p:nvSpPr>
          <p:cNvPr id="7" name="">
            <a:extLst xmlns:a="http://schemas.openxmlformats.org/drawingml/2006/main">
              <a:ext uri="{FF2B5EF4-FFF2-40B4-BE49-F238E27FC236}">
                <a16:creationId xmlns:a16="http://schemas.microsoft.com/office/drawing/2014/main" id="{A50E4506-035C-4A13-92DB-B2559DB60B93}"/>
              </a:ext>
            </a:extLst>
          </p:cNvPr>
          <p:cNvSpPr>
            <a:spLocks xmlns:a="http://schemas.openxmlformats.org/drawingml/2006/main" noGrp="1"/>
          </p:cNvSpPr>
          <p:nvPr/>
        </p:nvSpPr>
        <p:spPr>
          <a:xfrm xmlns:a="http://schemas.openxmlformats.org/drawingml/2006/main">
            <a:off x="4524375" y="2667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Máximo de épocas</a:t>
            </a:r>
          </a:p>
        </p:txBody>
      </p:sp>
      <p:sp>
        <p:nvSpPr>
          <p:cNvPr id="8" name="">
            <a:extLst xmlns:a="http://schemas.openxmlformats.org/drawingml/2006/main">
              <a:ext uri="{FF2B5EF4-FFF2-40B4-BE49-F238E27FC236}">
                <a16:creationId xmlns:a16="http://schemas.microsoft.com/office/drawing/2014/main" id="{30C1BCF9-9E05-4ECC-94D3-6F6EFF075AC2}"/>
              </a:ext>
            </a:extLst>
          </p:cNvPr>
          <p:cNvSpPr>
            <a:spLocks xmlns:a="http://schemas.openxmlformats.org/drawingml/2006/main" noGrp="1"/>
          </p:cNvSpPr>
          <p:nvPr/>
        </p:nvSpPr>
        <p:spPr>
          <a:xfrm xmlns:a="http://schemas.openxmlformats.org/drawingml/2006/main">
            <a:off x="8334375" y="1695450"/>
            <a:ext cx="314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5</a:t>
            </a:r>
          </a:p>
        </p:txBody>
      </p:sp>
      <p:sp>
        <p:nvSpPr>
          <p:cNvPr id="9" name="">
            <a:extLst xmlns:a="http://schemas.openxmlformats.org/drawingml/2006/main">
              <a:ext uri="{FF2B5EF4-FFF2-40B4-BE49-F238E27FC236}">
                <a16:creationId xmlns:a16="http://schemas.microsoft.com/office/drawing/2014/main" id="{C0B8286C-4EB8-4480-AE72-D5B768A075A8}"/>
              </a:ext>
            </a:extLst>
          </p:cNvPr>
          <p:cNvSpPr>
            <a:spLocks xmlns:a="http://schemas.openxmlformats.org/drawingml/2006/main" noGrp="1"/>
          </p:cNvSpPr>
          <p:nvPr/>
        </p:nvSpPr>
        <p:spPr>
          <a:xfrm xmlns:a="http://schemas.openxmlformats.org/drawingml/2006/main">
            <a:off x="8334375" y="2667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Paciencia</a:t>
            </a:r>
          </a:p>
        </p:txBody>
      </p:sp>
      <p:sp>
        <p:nvSpPr>
          <p:cNvPr id="10" name="">
            <a:extLst xmlns:a="http://schemas.openxmlformats.org/drawingml/2006/main">
              <a:ext uri="{FF2B5EF4-FFF2-40B4-BE49-F238E27FC236}">
                <a16:creationId xmlns:a16="http://schemas.microsoft.com/office/drawing/2014/main" id="{87FF022A-CB98-463E-B941-A065CF360A56}"/>
              </a:ext>
            </a:extLst>
          </p:cNvPr>
          <p:cNvSpPr>
            <a:spLocks xmlns:a="http://schemas.openxmlformats.org/drawingml/2006/main" noGrp="1"/>
          </p:cNvSpPr>
          <p:nvPr/>
        </p:nvSpPr>
        <p:spPr>
          <a:xfrm xmlns:a="http://schemas.openxmlformats.org/drawingml/2006/main">
            <a:off x="723900" y="39719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Optimización</a:t>
            </a:r>
          </a:p>
        </p:txBody>
      </p:sp>
      <p:sp>
        <p:nvSpPr>
          <p:cNvPr id="11" name="">
            <a:extLst xmlns:a="http://schemas.openxmlformats.org/drawingml/2006/main">
              <a:ext uri="{FF2B5EF4-FFF2-40B4-BE49-F238E27FC236}">
                <a16:creationId xmlns:a16="http://schemas.microsoft.com/office/drawing/2014/main" id="{9CC26040-345D-4BFE-A242-89643F80B685}"/>
              </a:ext>
            </a:extLst>
          </p:cNvPr>
          <p:cNvSpPr>
            <a:spLocks xmlns:a="http://schemas.openxmlformats.org/drawingml/2006/main" noGrp="1"/>
          </p:cNvSpPr>
          <p:nvPr/>
        </p:nvSpPr>
        <p:spPr>
          <a:xfrm xmlns:a="http://schemas.openxmlformats.org/drawingml/2006/main">
            <a:off x="3810000" y="39719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MSE · Adam · tasa 0,0001</a:t>
            </a:r>
          </a:p>
        </p:txBody>
      </p:sp>
      <p:sp>
        <p:nvSpPr>
          <p:cNvPr id="12" name="">
            <a:extLst xmlns:a="http://schemas.openxmlformats.org/drawingml/2006/main">
              <a:ext uri="{FF2B5EF4-FFF2-40B4-BE49-F238E27FC236}">
                <a16:creationId xmlns:a16="http://schemas.microsoft.com/office/drawing/2014/main" id="{49EC1AB8-FC6A-494C-BC7B-506F0091CC0C}"/>
              </a:ext>
            </a:extLst>
          </p:cNvPr>
          <p:cNvSpPr>
            <a:spLocks xmlns:a="http://schemas.openxmlformats.org/drawingml/2006/main" noGrp="1"/>
          </p:cNvSpPr>
          <p:nvPr/>
        </p:nvSpPr>
        <p:spPr>
          <a:xfrm xmlns:a="http://schemas.openxmlformats.org/drawingml/2006/main">
            <a:off x="723900" y="48577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Reproducibilidad</a:t>
            </a:r>
          </a:p>
        </p:txBody>
      </p:sp>
      <p:sp>
        <p:nvSpPr>
          <p:cNvPr id="13" name="">
            <a:extLst xmlns:a="http://schemas.openxmlformats.org/drawingml/2006/main">
              <a:ext uri="{FF2B5EF4-FFF2-40B4-BE49-F238E27FC236}">
                <a16:creationId xmlns:a16="http://schemas.microsoft.com/office/drawing/2014/main" id="{8DAC1394-F589-4923-959D-27E8F3488C7D}"/>
              </a:ext>
            </a:extLst>
          </p:cNvPr>
          <p:cNvSpPr>
            <a:spLocks xmlns:a="http://schemas.openxmlformats.org/drawingml/2006/main" noGrp="1"/>
          </p:cNvSpPr>
          <p:nvPr/>
        </p:nvSpPr>
        <p:spPr>
          <a:xfrm xmlns:a="http://schemas.openxmlformats.org/drawingml/2006/main">
            <a:off x="3810000" y="48577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Semilla 42 · mismas particiones</a:t>
            </a:r>
          </a:p>
        </p:txBody>
      </p:sp>
      <p:sp>
        <p:nvSpPr>
          <p:cNvPr id="14" name="">
            <a:extLst xmlns:a="http://schemas.openxmlformats.org/drawingml/2006/main">
              <a:ext uri="{FF2B5EF4-FFF2-40B4-BE49-F238E27FC236}">
                <a16:creationId xmlns:a16="http://schemas.microsoft.com/office/drawing/2014/main" id="{710607B5-0C3F-4366-BC55-5F789C1BD24B}"/>
              </a:ext>
            </a:extLst>
          </p:cNvPr>
          <p:cNvSpPr>
            <a:spLocks xmlns:a="http://schemas.openxmlformats.org/drawingml/2006/main" noGrp="1"/>
          </p:cNvSpPr>
          <p:nvPr/>
        </p:nvSpPr>
        <p:spPr>
          <a:xfrm xmlns:a="http://schemas.openxmlformats.org/drawingml/2006/main">
            <a:off x="723900" y="581025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7D"/>
                </a:solidFill>
                <a:latin typeface="Arial"/>
                <a:ea typeface="Arial"/>
                <a:cs typeface="Arial"/>
              </a:defRPr>
            </a:pPr>
            <a:r>
              <a:rPr sz="1800" b="0">
                <a:solidFill>
                  <a:srgbClr val="60717D"/>
                </a:solidFill>
                <a:latin typeface="Arial"/>
                <a:ea typeface="Arial"/>
                <a:cs typeface="Arial"/>
              </a:rPr>
              <a:t>Parada equivalente; duración variable por modelo</a:t>
            </a:r>
          </a:p>
        </p:txBody>
      </p:sp>
    </p:spTree>
    <p:extLst>
      <p:ext uri="{BB962C8B-B14F-4D97-AF65-F5344CB8AC3E}">
        <p14:creationId xmlns:p14="http://schemas.microsoft.com/office/powerpoint/2010/main" val="14005683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22A9DC-14E2-4B82-834D-F4E540A65C38}"/>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Controles de la arquitectura</a:t>
            </a:r>
          </a:p>
        </p:txBody>
      </p:sp>
      <p:sp>
        <p:nvSpPr>
          <p:cNvPr id="2" name="">
            <a:extLst xmlns:a="http://schemas.openxmlformats.org/drawingml/2006/main">
              <a:ext uri="{FF2B5EF4-FFF2-40B4-BE49-F238E27FC236}">
                <a16:creationId xmlns:a16="http://schemas.microsoft.com/office/drawing/2014/main" id="{2FE2DEA3-6100-4638-AF2D-B8CB392E20DB}"/>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Implementación · 2/3</a:t>
            </a:r>
          </a:p>
        </p:txBody>
      </p:sp>
      <p:sp>
        <p:nvSpPr>
          <p:cNvPr id="3" name="">
            <a:extLst xmlns:a="http://schemas.openxmlformats.org/drawingml/2006/main">
              <a:ext uri="{FF2B5EF4-FFF2-40B4-BE49-F238E27FC236}">
                <a16:creationId xmlns:a16="http://schemas.microsoft.com/office/drawing/2014/main" id="{43F14D6A-7D94-47F9-ADEF-FC6BCDB3C428}"/>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1280D3BA-5C05-4354-9193-113EF36A0AB1}"/>
              </a:ext>
            </a:extLst>
          </p:cNvPr>
          <p:cNvSpPr>
            <a:spLocks xmlns:a="http://schemas.openxmlformats.org/drawingml/2006/main" noGrp="1"/>
          </p:cNvSpPr>
          <p:nvPr/>
        </p:nvSpPr>
        <p:spPr>
          <a:xfrm xmlns:a="http://schemas.openxmlformats.org/drawingml/2006/main">
            <a:off x="723900" y="16954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Sin CReLU</a:t>
            </a:r>
          </a:p>
        </p:txBody>
      </p:sp>
      <p:sp>
        <p:nvSpPr>
          <p:cNvPr id="5" name="">
            <a:extLst xmlns:a="http://schemas.openxmlformats.org/drawingml/2006/main">
              <a:ext uri="{FF2B5EF4-FFF2-40B4-BE49-F238E27FC236}">
                <a16:creationId xmlns:a16="http://schemas.microsoft.com/office/drawing/2014/main" id="{469CF976-C556-4749-946F-9E2C17CFB8A4}"/>
              </a:ext>
            </a:extLst>
          </p:cNvPr>
          <p:cNvSpPr>
            <a:spLocks xmlns:a="http://schemas.openxmlformats.org/drawingml/2006/main" noGrp="1"/>
          </p:cNvSpPr>
          <p:nvPr/>
        </p:nvSpPr>
        <p:spPr>
          <a:xfrm xmlns:a="http://schemas.openxmlformats.org/drawingml/2006/main">
            <a:off x="3810000" y="16954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Aporte de la activación</a:t>
            </a:r>
          </a:p>
        </p:txBody>
      </p:sp>
      <p:sp>
        <p:nvSpPr>
          <p:cNvPr id="6" name="">
            <a:extLst xmlns:a="http://schemas.openxmlformats.org/drawingml/2006/main">
              <a:ext uri="{FF2B5EF4-FFF2-40B4-BE49-F238E27FC236}">
                <a16:creationId xmlns:a16="http://schemas.microsoft.com/office/drawing/2014/main" id="{7BC85EAD-9BEF-4F6B-AB80-C19EEB8AF91C}"/>
              </a:ext>
            </a:extLst>
          </p:cNvPr>
          <p:cNvSpPr>
            <a:spLocks xmlns:a="http://schemas.openxmlformats.org/drawingml/2006/main" noGrp="1"/>
          </p:cNvSpPr>
          <p:nvPr/>
        </p:nvSpPr>
        <p:spPr>
          <a:xfrm xmlns:a="http://schemas.openxmlformats.org/drawingml/2006/main">
            <a:off x="723900" y="28479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MLP real</a:t>
            </a:r>
          </a:p>
        </p:txBody>
      </p:sp>
      <p:sp>
        <p:nvSpPr>
          <p:cNvPr id="7" name="">
            <a:extLst xmlns:a="http://schemas.openxmlformats.org/drawingml/2006/main">
              <a:ext uri="{FF2B5EF4-FFF2-40B4-BE49-F238E27FC236}">
                <a16:creationId xmlns:a16="http://schemas.microsoft.com/office/drawing/2014/main" id="{3AEA4AB4-5569-4818-91B1-6A7F6ED49681}"/>
              </a:ext>
            </a:extLst>
          </p:cNvPr>
          <p:cNvSpPr>
            <a:spLocks xmlns:a="http://schemas.openxmlformats.org/drawingml/2006/main" noGrp="1"/>
          </p:cNvSpPr>
          <p:nvPr/>
        </p:nvSpPr>
        <p:spPr>
          <a:xfrm xmlns:a="http://schemas.openxmlformats.org/drawingml/2006/main">
            <a:off x="3810000" y="28479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Referencia sin Fourier</a:t>
            </a:r>
          </a:p>
        </p:txBody>
      </p:sp>
      <p:sp>
        <p:nvSpPr>
          <p:cNvPr id="8" name="">
            <a:extLst xmlns:a="http://schemas.openxmlformats.org/drawingml/2006/main">
              <a:ext uri="{FF2B5EF4-FFF2-40B4-BE49-F238E27FC236}">
                <a16:creationId xmlns:a16="http://schemas.microsoft.com/office/drawing/2014/main" id="{3B9F560B-11B5-4F1C-B281-15A7E0158F95}"/>
              </a:ext>
            </a:extLst>
          </p:cNvPr>
          <p:cNvSpPr>
            <a:spLocks xmlns:a="http://schemas.openxmlformats.org/drawingml/2006/main" noGrp="1"/>
          </p:cNvSpPr>
          <p:nvPr/>
        </p:nvSpPr>
        <p:spPr>
          <a:xfrm xmlns:a="http://schemas.openxmlformats.org/drawingml/2006/main">
            <a:off x="723900" y="4000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x + F(x)</a:t>
            </a:r>
          </a:p>
        </p:txBody>
      </p:sp>
      <p:sp>
        <p:nvSpPr>
          <p:cNvPr id="9" name="">
            <a:extLst xmlns:a="http://schemas.openxmlformats.org/drawingml/2006/main">
              <a:ext uri="{FF2B5EF4-FFF2-40B4-BE49-F238E27FC236}">
                <a16:creationId xmlns:a16="http://schemas.microsoft.com/office/drawing/2014/main" id="{2B61CE3A-8EA6-4283-9E27-960CAFEEECE9}"/>
              </a:ext>
            </a:extLst>
          </p:cNvPr>
          <p:cNvSpPr>
            <a:spLocks xmlns:a="http://schemas.openxmlformats.org/drawingml/2006/main" noGrp="1"/>
          </p:cNvSpPr>
          <p:nvPr/>
        </p:nvSpPr>
        <p:spPr>
          <a:xfrm xmlns:a="http://schemas.openxmlformats.org/drawingml/2006/main">
            <a:off x="3810000" y="400050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Camino directo + corrección inicial pequeña</a:t>
            </a:r>
          </a:p>
        </p:txBody>
      </p:sp>
      <p:sp>
        <p:nvSpPr>
          <p:cNvPr id="10" name="">
            <a:extLst xmlns:a="http://schemas.openxmlformats.org/drawingml/2006/main">
              <a:ext uri="{FF2B5EF4-FFF2-40B4-BE49-F238E27FC236}">
                <a16:creationId xmlns:a16="http://schemas.microsoft.com/office/drawing/2014/main" id="{406DE63D-0A9D-49E1-AD45-734B912A0336}"/>
              </a:ext>
            </a:extLst>
          </p:cNvPr>
          <p:cNvSpPr>
            <a:spLocks xmlns:a="http://schemas.openxmlformats.org/drawingml/2006/main" noGrp="1"/>
          </p:cNvSpPr>
          <p:nvPr/>
        </p:nvSpPr>
        <p:spPr>
          <a:xfrm xmlns:a="http://schemas.openxmlformats.org/drawingml/2006/main">
            <a:off x="723900" y="5610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0717D"/>
                </a:solidFill>
                <a:latin typeface="Arial"/>
                <a:ea typeface="Arial"/>
                <a:cs typeface="Arial"/>
              </a:defRPr>
            </a:pPr>
            <a:r>
              <a:rPr sz="2175" b="0">
                <a:solidFill>
                  <a:srgbClr val="60717D"/>
                </a:solidFill>
                <a:latin typeface="Arial"/>
                <a:ea typeface="Arial"/>
                <a:cs typeface="Arial"/>
              </a:rPr>
              <a:t>Mismos datos, tronco LSTM y criterio de parada</a:t>
            </a:r>
          </a:p>
        </p:txBody>
      </p:sp>
    </p:spTree>
    <p:extLst>
      <p:ext uri="{BB962C8B-B14F-4D97-AF65-F5344CB8AC3E}">
        <p14:creationId xmlns:p14="http://schemas.microsoft.com/office/powerpoint/2010/main" val="9620040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BCE32B-F707-451C-975C-4B833E4A757E}"/>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Ejecución y controles</a:t>
            </a:r>
          </a:p>
        </p:txBody>
      </p:sp>
      <p:sp>
        <p:nvSpPr>
          <p:cNvPr id="2" name="">
            <a:extLst xmlns:a="http://schemas.openxmlformats.org/drawingml/2006/main">
              <a:ext uri="{FF2B5EF4-FFF2-40B4-BE49-F238E27FC236}">
                <a16:creationId xmlns:a16="http://schemas.microsoft.com/office/drawing/2014/main" id="{2F478910-A0DA-481C-88C0-0B8D6E6401FF}"/>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Implementación · 2/3</a:t>
            </a:r>
          </a:p>
        </p:txBody>
      </p:sp>
      <p:sp>
        <p:nvSpPr>
          <p:cNvPr id="3" name="">
            <a:extLst xmlns:a="http://schemas.openxmlformats.org/drawingml/2006/main">
              <a:ext uri="{FF2B5EF4-FFF2-40B4-BE49-F238E27FC236}">
                <a16:creationId xmlns:a16="http://schemas.microsoft.com/office/drawing/2014/main" id="{2CD17F7E-8E90-43C4-A63F-2C0DF7BDFA9F}"/>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04c8f169ef34080"/>
          <a:stretch xmlns:a="http://schemas.openxmlformats.org/drawingml/2006/main"/>
        </p:blipFill>
        <p:spPr>
          <a:xfrm xmlns:a="http://schemas.openxmlformats.org/drawingml/2006/main">
            <a:off x="771525" y="1809750"/>
            <a:ext cx="971550" cy="971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30C6B67-4FF1-4CB6-97FE-FBA7727BC91D}"/>
              </a:ext>
            </a:extLst>
          </p:cNvPr>
          <p:cNvSpPr>
            <a:spLocks xmlns:a="http://schemas.openxmlformats.org/drawingml/2006/main" noGrp="1"/>
          </p:cNvSpPr>
          <p:nvPr/>
        </p:nvSpPr>
        <p:spPr>
          <a:xfrm xmlns:a="http://schemas.openxmlformats.org/drawingml/2006/main">
            <a:off x="2143125" y="1790700"/>
            <a:ext cx="9382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73448"/>
                </a:solidFill>
                <a:latin typeface="Arial"/>
                <a:ea typeface="Arial"/>
                <a:cs typeface="Arial"/>
              </a:defRPr>
            </a:pPr>
            <a:r>
              <a:rPr sz="3375" b="1">
                <a:solidFill>
                  <a:srgbClr val="173448"/>
                </a:solidFill>
                <a:latin typeface="Arial"/>
                <a:ea typeface="Arial"/>
                <a:cs typeface="Arial"/>
              </a:rPr>
              <a:t>RTX 4080 SUPER</a:t>
            </a:r>
          </a:p>
        </p:txBody>
      </p:sp>
      <p:sp>
        <p:nvSpPr>
          <p:cNvPr id="6" name="">
            <a:extLst xmlns:a="http://schemas.openxmlformats.org/drawingml/2006/main">
              <a:ext uri="{FF2B5EF4-FFF2-40B4-BE49-F238E27FC236}">
                <a16:creationId xmlns:a16="http://schemas.microsoft.com/office/drawing/2014/main" id="{92A51C7A-9C06-4BB4-BCBC-D65A4C2B5B3B}"/>
              </a:ext>
            </a:extLst>
          </p:cNvPr>
          <p:cNvSpPr>
            <a:spLocks xmlns:a="http://schemas.openxmlformats.org/drawingml/2006/main" noGrp="1"/>
          </p:cNvSpPr>
          <p:nvPr/>
        </p:nvSpPr>
        <p:spPr>
          <a:xfrm xmlns:a="http://schemas.openxmlformats.org/drawingml/2006/main">
            <a:off x="2143125" y="2571750"/>
            <a:ext cx="938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0717D"/>
                </a:solidFill>
                <a:latin typeface="Arial"/>
                <a:ea typeface="Arial"/>
                <a:cs typeface="Arial"/>
              </a:defRPr>
            </a:pPr>
            <a:r>
              <a:rPr sz="2175" b="0">
                <a:solidFill>
                  <a:srgbClr val="60717D"/>
                </a:solidFill>
                <a:latin typeface="Arial"/>
                <a:ea typeface="Arial"/>
                <a:cs typeface="Arial"/>
              </a:rPr>
              <a:t>16 GB · lectura por lotes · precisión mixta</a:t>
            </a:r>
          </a:p>
        </p:txBody>
      </p:sp>
      <p:sp>
        <p:nvSpPr>
          <p:cNvPr id="7" name="">
            <a:extLst xmlns:a="http://schemas.openxmlformats.org/drawingml/2006/main">
              <a:ext uri="{FF2B5EF4-FFF2-40B4-BE49-F238E27FC236}">
                <a16:creationId xmlns:a16="http://schemas.microsoft.com/office/drawing/2014/main" id="{3E043D38-2BC3-48B2-9AA1-2CD5BA025CB0}"/>
              </a:ext>
            </a:extLst>
          </p:cNvPr>
          <p:cNvSpPr>
            <a:spLocks xmlns:a="http://schemas.openxmlformats.org/drawingml/2006/main" noGrp="1"/>
          </p:cNvSpPr>
          <p:nvPr/>
        </p:nvSpPr>
        <p:spPr>
          <a:xfrm xmlns:a="http://schemas.openxmlformats.org/drawingml/2006/main">
            <a:off x="723900" y="39433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Antes de entrenar</a:t>
            </a:r>
          </a:p>
        </p:txBody>
      </p:sp>
      <p:sp>
        <p:nvSpPr>
          <p:cNvPr id="8" name="">
            <a:extLst xmlns:a="http://schemas.openxmlformats.org/drawingml/2006/main">
              <a:ext uri="{FF2B5EF4-FFF2-40B4-BE49-F238E27FC236}">
                <a16:creationId xmlns:a16="http://schemas.microsoft.com/office/drawing/2014/main" id="{23ED6736-132A-49BB-83E7-ED1AB7E612D3}"/>
              </a:ext>
            </a:extLst>
          </p:cNvPr>
          <p:cNvSpPr>
            <a:spLocks xmlns:a="http://schemas.openxmlformats.org/drawingml/2006/main" noGrp="1"/>
          </p:cNvSpPr>
          <p:nvPr/>
        </p:nvSpPr>
        <p:spPr>
          <a:xfrm xmlns:a="http://schemas.openxmlformats.org/drawingml/2006/main">
            <a:off x="3810000" y="39433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Dimensiones · gradientes · memoria</a:t>
            </a:r>
          </a:p>
        </p:txBody>
      </p:sp>
      <p:sp>
        <p:nvSpPr>
          <p:cNvPr id="9" name="">
            <a:extLst xmlns:a="http://schemas.openxmlformats.org/drawingml/2006/main">
              <a:ext uri="{FF2B5EF4-FFF2-40B4-BE49-F238E27FC236}">
                <a16:creationId xmlns:a16="http://schemas.microsoft.com/office/drawing/2014/main" id="{5325F22B-6E0F-4AA3-8457-849F92BF4A69}"/>
              </a:ext>
            </a:extLst>
          </p:cNvPr>
          <p:cNvSpPr>
            <a:spLocks xmlns:a="http://schemas.openxmlformats.org/drawingml/2006/main" noGrp="1"/>
          </p:cNvSpPr>
          <p:nvPr/>
        </p:nvSpPr>
        <p:spPr>
          <a:xfrm xmlns:a="http://schemas.openxmlformats.org/drawingml/2006/main">
            <a:off x="723900" y="48577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Antes de entregar</a:t>
            </a:r>
          </a:p>
        </p:txBody>
      </p:sp>
      <p:sp>
        <p:nvSpPr>
          <p:cNvPr id="10" name="">
            <a:extLst xmlns:a="http://schemas.openxmlformats.org/drawingml/2006/main">
              <a:ext uri="{FF2B5EF4-FFF2-40B4-BE49-F238E27FC236}">
                <a16:creationId xmlns:a16="http://schemas.microsoft.com/office/drawing/2014/main" id="{5CF59351-E830-49EB-83E9-1BAE9A95FDDE}"/>
              </a:ext>
            </a:extLst>
          </p:cNvPr>
          <p:cNvSpPr>
            <a:spLocks xmlns:a="http://schemas.openxmlformats.org/drawingml/2006/main" noGrp="1"/>
          </p:cNvSpPr>
          <p:nvPr/>
        </p:nvSpPr>
        <p:spPr>
          <a:xfrm xmlns:a="http://schemas.openxmlformats.org/drawingml/2006/main">
            <a:off x="3810000" y="4857750"/>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Métricas · checkpoints · CSV de test</a:t>
            </a:r>
          </a:p>
        </p:txBody>
      </p:sp>
    </p:spTree>
    <p:extLst>
      <p:ext uri="{BB962C8B-B14F-4D97-AF65-F5344CB8AC3E}">
        <p14:creationId xmlns:p14="http://schemas.microsoft.com/office/powerpoint/2010/main" val="5718575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7EB031-44DF-479F-AC0B-13EAF9B23385}"/>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Comparación de los cinco modelos del paper</a:t>
            </a:r>
          </a:p>
        </p:txBody>
      </p:sp>
      <p:sp>
        <p:nvSpPr>
          <p:cNvPr id="2" name="">
            <a:extLst xmlns:a="http://schemas.openxmlformats.org/drawingml/2006/main">
              <a:ext uri="{FF2B5EF4-FFF2-40B4-BE49-F238E27FC236}">
                <a16:creationId xmlns:a16="http://schemas.microsoft.com/office/drawing/2014/main" id="{2B34B39F-00C6-4FF0-A6CB-F4968879601C}"/>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D8B1BEE2-9D3A-4D2D-805C-88C434F51CE1}"/>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12</a:t>
            </a:r>
          </a:p>
        </p:txBody>
      </p:sp>
      <p:graphicFrame>
        <p:nvGraphicFramePr>
          <p:cNvPr id="11" name="Chart"/>
          <p:cNvGraphicFramePr/>
          <p:nvPr/>
        </p:nvGraphicFramePr>
        <p:xfrm>
          <a:off xmlns:a="http://schemas.openxmlformats.org/drawingml/2006/main" x="609600" y="1590675"/>
          <a:ext xmlns:a="http://schemas.openxmlformats.org/drawingml/2006/main" cx="8029575" cy="4105275"/>
        </p:xfrm>
        <a:graphic xmlns:a="http://schemas.openxmlformats.org/drawingml/2006/main">
          <a:graphicData uri="http://schemas.openxmlformats.org/drawingml/2006/chart">
            <c:chart xmlns:r="http://schemas.openxmlformats.org/officeDocument/2006/relationships" xmlns:c="http://schemas.openxmlformats.org/drawingml/2006/chart" r:id="Rcaa0d476fb614226"/>
          </a:graphicData>
        </a:graphic>
      </p:graphicFrame>
      <p:sp>
        <p:nvSpPr>
          <p:cNvPr id="5" name="">
            <a:extLst xmlns:a="http://schemas.openxmlformats.org/drawingml/2006/main">
              <a:ext uri="{FF2B5EF4-FFF2-40B4-BE49-F238E27FC236}">
                <a16:creationId xmlns:a16="http://schemas.microsoft.com/office/drawing/2014/main" id="{FC4E2A4C-8540-4778-84CF-49A0AA63C3D7}"/>
              </a:ext>
            </a:extLst>
          </p:cNvPr>
          <p:cNvSpPr>
            <a:spLocks xmlns:a="http://schemas.openxmlformats.org/drawingml/2006/main" noGrp="1"/>
          </p:cNvSpPr>
          <p:nvPr/>
        </p:nvSpPr>
        <p:spPr>
          <a:xfrm xmlns:a="http://schemas.openxmlformats.org/drawingml/2006/main">
            <a:off x="8877300" y="2247900"/>
            <a:ext cx="2905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0,650</a:t>
            </a:r>
          </a:p>
        </p:txBody>
      </p:sp>
      <p:sp>
        <p:nvSpPr>
          <p:cNvPr id="6" name="">
            <a:extLst xmlns:a="http://schemas.openxmlformats.org/drawingml/2006/main">
              <a:ext uri="{FF2B5EF4-FFF2-40B4-BE49-F238E27FC236}">
                <a16:creationId xmlns:a16="http://schemas.microsoft.com/office/drawing/2014/main" id="{15CD24EF-40BA-45F7-9FD5-485203539FA9}"/>
              </a:ext>
            </a:extLst>
          </p:cNvPr>
          <p:cNvSpPr>
            <a:spLocks xmlns:a="http://schemas.openxmlformats.org/drawingml/2006/main" noGrp="1"/>
          </p:cNvSpPr>
          <p:nvPr/>
        </p:nvSpPr>
        <p:spPr>
          <a:xfrm xmlns:a="http://schemas.openxmlformats.org/drawingml/2006/main">
            <a:off x="8877300" y="321945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NSE · LSTM</a:t>
            </a:r>
          </a:p>
        </p:txBody>
      </p:sp>
      <p:sp>
        <p:nvSpPr>
          <p:cNvPr id="7" name="">
            <a:extLst xmlns:a="http://schemas.openxmlformats.org/drawingml/2006/main">
              <a:ext uri="{FF2B5EF4-FFF2-40B4-BE49-F238E27FC236}">
                <a16:creationId xmlns:a16="http://schemas.microsoft.com/office/drawing/2014/main" id="{5C81261D-3FE9-4169-BAB5-DB5E47C2DDA1}"/>
              </a:ext>
            </a:extLst>
          </p:cNvPr>
          <p:cNvSpPr>
            <a:spLocks xmlns:a="http://schemas.openxmlformats.org/drawingml/2006/main" noGrp="1"/>
          </p:cNvSpPr>
          <p:nvPr/>
        </p:nvSpPr>
        <p:spPr>
          <a:xfrm xmlns:a="http://schemas.openxmlformats.org/drawingml/2006/main">
            <a:off x="695325" y="58293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0717D"/>
                </a:solidFill>
                <a:latin typeface="Arial"/>
                <a:ea typeface="Arial"/>
                <a:cs typeface="Arial"/>
              </a:defRPr>
            </a:pPr>
            <a:r>
              <a:rPr sz="1725" b="0">
                <a:solidFill>
                  <a:srgbClr val="60717D"/>
                </a:solidFill>
                <a:latin typeface="Arial"/>
                <a:ea typeface="Arial"/>
                <a:cs typeface="Arial"/>
              </a:rPr>
              <a:t>RMSE en mm/h · validación · menor es mejor</a:t>
            </a:r>
          </a:p>
        </p:txBody>
      </p:sp>
    </p:spTree>
    <p:extLst>
      <p:ext uri="{BB962C8B-B14F-4D97-AF65-F5344CB8AC3E}">
        <p14:creationId xmlns:p14="http://schemas.microsoft.com/office/powerpoint/2010/main" val="2106511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A573CA-7A43-45C9-99C0-4D353328C3CA}"/>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Controles del módulo y de la inicialización</a:t>
            </a:r>
          </a:p>
        </p:txBody>
      </p:sp>
      <p:sp>
        <p:nvSpPr>
          <p:cNvPr id="2" name="">
            <a:extLst xmlns:a="http://schemas.openxmlformats.org/drawingml/2006/main">
              <a:ext uri="{FF2B5EF4-FFF2-40B4-BE49-F238E27FC236}">
                <a16:creationId xmlns:a16="http://schemas.microsoft.com/office/drawing/2014/main" id="{CB8DF137-2F19-4521-9580-7522B55DE91F}"/>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04C1330B-B89C-4E15-902D-E9FD3A9594A7}"/>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13</a:t>
            </a:r>
          </a:p>
        </p:txBody>
      </p:sp>
      <p:graphicFrame>
        <p:nvGraphicFramePr>
          <p:cNvPr id="9" name="Chart"/>
          <p:cNvGraphicFramePr/>
          <p:nvPr/>
        </p:nvGraphicFramePr>
        <p:xfrm>
          <a:off xmlns:a="http://schemas.openxmlformats.org/drawingml/2006/main" x="628650" y="160020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af6ddb395c284afc"/>
          </a:graphicData>
        </a:graphic>
      </p:graphicFrame>
      <p:sp>
        <p:nvSpPr>
          <p:cNvPr id="5" name="">
            <a:extLst xmlns:a="http://schemas.openxmlformats.org/drawingml/2006/main">
              <a:ext uri="{FF2B5EF4-FFF2-40B4-BE49-F238E27FC236}">
                <a16:creationId xmlns:a16="http://schemas.microsoft.com/office/drawing/2014/main" id="{E7438474-EE7F-493C-89A2-BFCC191E2455}"/>
              </a:ext>
            </a:extLst>
          </p:cNvPr>
          <p:cNvSpPr>
            <a:spLocks xmlns:a="http://schemas.openxmlformats.org/drawingml/2006/main" noGrp="1"/>
          </p:cNvSpPr>
          <p:nvPr/>
        </p:nvSpPr>
        <p:spPr>
          <a:xfrm xmlns:a="http://schemas.openxmlformats.org/drawingml/2006/main">
            <a:off x="723900" y="5819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7D"/>
                </a:solidFill>
                <a:latin typeface="Arial"/>
                <a:ea typeface="Arial"/>
                <a:cs typeface="Arial"/>
              </a:defRPr>
            </a:pPr>
            <a:r>
              <a:rPr sz="1800" b="0">
                <a:solidFill>
                  <a:srgbClr val="60717D"/>
                </a:solidFill>
                <a:latin typeface="Arial"/>
                <a:ea typeface="Arial"/>
                <a:cs typeface="Arial"/>
              </a:rPr>
              <a:t>RMSE en mm/h · semilla 42 · menor es mejor</a:t>
            </a:r>
          </a:p>
        </p:txBody>
      </p:sp>
    </p:spTree>
    <p:extLst>
      <p:ext uri="{BB962C8B-B14F-4D97-AF65-F5344CB8AC3E}">
        <p14:creationId xmlns:p14="http://schemas.microsoft.com/office/powerpoint/2010/main" val="11332387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10B98A-EF4C-4007-9CDB-513EC9B8AD67}"/>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Un caso de error alto</a:t>
            </a:r>
          </a:p>
        </p:txBody>
      </p:sp>
      <p:sp>
        <p:nvSpPr>
          <p:cNvPr id="2" name="">
            <a:extLst xmlns:a="http://schemas.openxmlformats.org/drawingml/2006/main">
              <a:ext uri="{FF2B5EF4-FFF2-40B4-BE49-F238E27FC236}">
                <a16:creationId xmlns:a16="http://schemas.microsoft.com/office/drawing/2014/main" id="{3F20E39F-1686-4E22-B836-3FCC7213F2CD}"/>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57609D2A-00BF-4CCD-9C22-C96BC9010D9A}"/>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14</a:t>
            </a:r>
          </a:p>
        </p:txBody>
      </p:sp>
      <p:graphicFrame>
        <p:nvGraphicFramePr>
          <p:cNvPr id="9" name="Chart"/>
          <p:cNvGraphicFramePr/>
          <p:nvPr/>
        </p:nvGraphicFramePr>
        <p:xfrm>
          <a:off xmlns:a="http://schemas.openxmlformats.org/drawingml/2006/main" x="619125" y="1695450"/>
          <a:ext xmlns:a="http://schemas.openxmlformats.org/drawingml/2006/main" cx="10953750" cy="3876675"/>
        </p:xfrm>
        <a:graphic xmlns:a="http://schemas.openxmlformats.org/drawingml/2006/main">
          <a:graphicData uri="http://schemas.openxmlformats.org/drawingml/2006/chart">
            <c:chart xmlns:r="http://schemas.openxmlformats.org/officeDocument/2006/relationships" xmlns:c="http://schemas.openxmlformats.org/drawingml/2006/chart" r:id="R9941adae8f584c20"/>
          </a:graphicData>
        </a:graphic>
      </p:graphicFrame>
      <p:sp>
        <p:nvSpPr>
          <p:cNvPr id="5" name="">
            <a:extLst xmlns:a="http://schemas.openxmlformats.org/drawingml/2006/main">
              <a:ext uri="{FF2B5EF4-FFF2-40B4-BE49-F238E27FC236}">
                <a16:creationId xmlns:a16="http://schemas.microsoft.com/office/drawing/2014/main" id="{EE293B5B-400F-4D7E-B63A-D8F3CCBD6142}"/>
              </a:ext>
            </a:extLst>
          </p:cNvPr>
          <p:cNvSpPr>
            <a:spLocks xmlns:a="http://schemas.openxmlformats.org/drawingml/2006/main" noGrp="1"/>
          </p:cNvSpPr>
          <p:nvPr/>
        </p:nvSpPr>
        <p:spPr>
          <a:xfrm xmlns:a="http://schemas.openxmlformats.org/drawingml/2006/main">
            <a:off x="742950" y="583882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7D"/>
                </a:solidFill>
                <a:latin typeface="Arial"/>
                <a:ea typeface="Arial"/>
                <a:cs typeface="Arial"/>
              </a:defRPr>
            </a:pPr>
            <a:r>
              <a:rPr sz="1800" b="0">
                <a:solidFill>
                  <a:srgbClr val="60717D"/>
                </a:solidFill>
                <a:latin typeface="Arial"/>
                <a:ea typeface="Arial"/>
                <a:cs typeface="Arial"/>
              </a:rPr>
              <a:t>Mayor error FDMLP · cuenca 174 · Id 225537</a:t>
            </a:r>
          </a:p>
        </p:txBody>
      </p:sp>
    </p:spTree>
    <p:extLst>
      <p:ext uri="{BB962C8B-B14F-4D97-AF65-F5344CB8AC3E}">
        <p14:creationId xmlns:p14="http://schemas.microsoft.com/office/powerpoint/2010/main" val="4581835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EF90ED-090D-4B0B-A15F-490C88DEA0A0}"/>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Ruido y faltantes producen efectos distintos</a:t>
            </a:r>
          </a:p>
        </p:txBody>
      </p:sp>
      <p:sp>
        <p:nvSpPr>
          <p:cNvPr id="2" name="">
            <a:extLst xmlns:a="http://schemas.openxmlformats.org/drawingml/2006/main">
              <a:ext uri="{FF2B5EF4-FFF2-40B4-BE49-F238E27FC236}">
                <a16:creationId xmlns:a16="http://schemas.microsoft.com/office/drawing/2014/main" id="{5FDE3E95-95C4-4D24-A5ED-392A85E71384}"/>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53534DF1-977E-49A0-B4D0-25FCCF678EB9}"/>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15</a:t>
            </a:r>
          </a:p>
        </p:txBody>
      </p:sp>
      <p:graphicFrame>
        <p:nvGraphicFramePr>
          <p:cNvPr id="11" name="Chart"/>
          <p:cNvGraphicFramePr/>
          <p:nvPr/>
        </p:nvGraphicFramePr>
        <p:xfrm>
          <a:off xmlns:a="http://schemas.openxmlformats.org/drawingml/2006/main" x="609600" y="1714500"/>
          <a:ext xmlns:a="http://schemas.openxmlformats.org/drawingml/2006/main" cx="7715250" cy="3857625"/>
        </p:xfrm>
        <a:graphic xmlns:a="http://schemas.openxmlformats.org/drawingml/2006/main">
          <a:graphicData uri="http://schemas.openxmlformats.org/drawingml/2006/chart">
            <c:chart xmlns:r="http://schemas.openxmlformats.org/officeDocument/2006/relationships" xmlns:c="http://schemas.openxmlformats.org/drawingml/2006/chart" r:id="Rd1d8689d02584ce1"/>
          </a:graphicData>
        </a:graphic>
      </p:graphicFrame>
      <p:sp>
        <p:nvSpPr>
          <p:cNvPr id="5" name="">
            <a:extLst xmlns:a="http://schemas.openxmlformats.org/drawingml/2006/main">
              <a:ext uri="{FF2B5EF4-FFF2-40B4-BE49-F238E27FC236}">
                <a16:creationId xmlns:a16="http://schemas.microsoft.com/office/drawing/2014/main" id="{FFFDF198-EEEB-4267-90D1-EA4C47317187}"/>
              </a:ext>
            </a:extLst>
          </p:cNvPr>
          <p:cNvSpPr>
            <a:spLocks xmlns:a="http://schemas.openxmlformats.org/drawingml/2006/main" noGrp="1"/>
          </p:cNvSpPr>
          <p:nvPr/>
        </p:nvSpPr>
        <p:spPr>
          <a:xfrm xmlns:a="http://schemas.openxmlformats.org/drawingml/2006/main">
            <a:off x="8601075" y="2209800"/>
            <a:ext cx="30289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−0,21%</a:t>
            </a:r>
          </a:p>
        </p:txBody>
      </p:sp>
      <p:sp>
        <p:nvSpPr>
          <p:cNvPr id="6" name="">
            <a:extLst xmlns:a="http://schemas.openxmlformats.org/drawingml/2006/main">
              <a:ext uri="{FF2B5EF4-FFF2-40B4-BE49-F238E27FC236}">
                <a16:creationId xmlns:a16="http://schemas.microsoft.com/office/drawing/2014/main" id="{6CDD3913-4C2D-4989-B2E7-E653A0653F26}"/>
              </a:ext>
            </a:extLst>
          </p:cNvPr>
          <p:cNvSpPr>
            <a:spLocks xmlns:a="http://schemas.openxmlformats.org/drawingml/2006/main" noGrp="1"/>
          </p:cNvSpPr>
          <p:nvPr/>
        </p:nvSpPr>
        <p:spPr>
          <a:xfrm xmlns:a="http://schemas.openxmlformats.org/drawingml/2006/main">
            <a:off x="8601075" y="3181350"/>
            <a:ext cx="3028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ΔNSE · FDMLP</a:t>
            </a:r>
          </a:p>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20% de faltantes</a:t>
            </a:r>
          </a:p>
        </p:txBody>
      </p:sp>
      <p:sp>
        <p:nvSpPr>
          <p:cNvPr id="7" name="">
            <a:extLst xmlns:a="http://schemas.openxmlformats.org/drawingml/2006/main">
              <a:ext uri="{FF2B5EF4-FFF2-40B4-BE49-F238E27FC236}">
                <a16:creationId xmlns:a16="http://schemas.microsoft.com/office/drawing/2014/main" id="{80CBDF4B-1B42-4F44-9561-1AB2FFC254D2}"/>
              </a:ext>
            </a:extLst>
          </p:cNvPr>
          <p:cNvSpPr>
            <a:spLocks xmlns:a="http://schemas.openxmlformats.org/drawingml/2006/main" noGrp="1"/>
          </p:cNvSpPr>
          <p:nvPr/>
        </p:nvSpPr>
        <p:spPr>
          <a:xfrm xmlns:a="http://schemas.openxmlformats.org/drawingml/2006/main">
            <a:off x="723900" y="58388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0717D"/>
                </a:solidFill>
                <a:latin typeface="Arial"/>
                <a:ea typeface="Arial"/>
                <a:cs typeface="Arial"/>
              </a:defRPr>
            </a:pPr>
            <a:r>
              <a:rPr sz="1725" b="0">
                <a:solidFill>
                  <a:srgbClr val="60717D"/>
                </a:solidFill>
                <a:latin typeface="Arial"/>
                <a:ea typeface="Arial"/>
                <a:cs typeface="Arial"/>
              </a:rPr>
              <a:t>Gráfico: ruido σ = 1 en todos los canales · ΔNSE (%)</a:t>
            </a:r>
          </a:p>
        </p:txBody>
      </p:sp>
    </p:spTree>
    <p:extLst>
      <p:ext uri="{BB962C8B-B14F-4D97-AF65-F5344CB8AC3E}">
        <p14:creationId xmlns:p14="http://schemas.microsoft.com/office/powerpoint/2010/main" val="15768002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BEC34A-FE51-4F0B-B4D4-A5F329750567}"/>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Menos parámetros no garantiza más velocidad</a:t>
            </a:r>
          </a:p>
        </p:txBody>
      </p:sp>
      <p:sp>
        <p:nvSpPr>
          <p:cNvPr id="2" name="">
            <a:extLst xmlns:a="http://schemas.openxmlformats.org/drawingml/2006/main">
              <a:ext uri="{FF2B5EF4-FFF2-40B4-BE49-F238E27FC236}">
                <a16:creationId xmlns:a16="http://schemas.microsoft.com/office/drawing/2014/main" id="{46AA3619-24F9-4CA7-AE43-FD1B232ECEF2}"/>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5B6F67FD-F745-44CB-A526-D8A5E9510F20}"/>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16</a:t>
            </a:r>
          </a:p>
        </p:txBody>
      </p:sp>
      <p:graphicFrame>
        <p:nvGraphicFramePr>
          <p:cNvPr id="11" name="Chart"/>
          <p:cNvGraphicFramePr/>
          <p:nvPr/>
        </p:nvGraphicFramePr>
        <p:xfrm>
          <a:off xmlns:a="http://schemas.openxmlformats.org/drawingml/2006/main" x="609600" y="1733550"/>
          <a:ext xmlns:a="http://schemas.openxmlformats.org/drawingml/2006/main" cx="8020050" cy="3819525"/>
        </p:xfrm>
        <a:graphic xmlns:a="http://schemas.openxmlformats.org/drawingml/2006/main">
          <a:graphicData uri="http://schemas.openxmlformats.org/drawingml/2006/chart">
            <c:chart xmlns:r="http://schemas.openxmlformats.org/officeDocument/2006/relationships" xmlns:c="http://schemas.openxmlformats.org/drawingml/2006/chart" r:id="R2a39cbe1d3514176"/>
          </a:graphicData>
        </a:graphic>
      </p:graphicFrame>
      <p:sp>
        <p:nvSpPr>
          <p:cNvPr id="5" name="">
            <a:extLst xmlns:a="http://schemas.openxmlformats.org/drawingml/2006/main">
              <a:ext uri="{FF2B5EF4-FFF2-40B4-BE49-F238E27FC236}">
                <a16:creationId xmlns:a16="http://schemas.microsoft.com/office/drawing/2014/main" id="{A9E4F49C-7B1F-4C98-A864-06A049CC9836}"/>
              </a:ext>
            </a:extLst>
          </p:cNvPr>
          <p:cNvSpPr>
            <a:spLocks xmlns:a="http://schemas.openxmlformats.org/drawingml/2006/main" noGrp="1"/>
          </p:cNvSpPr>
          <p:nvPr/>
        </p:nvSpPr>
        <p:spPr>
          <a:xfrm xmlns:a="http://schemas.openxmlformats.org/drawingml/2006/main">
            <a:off x="8905875" y="2190750"/>
            <a:ext cx="26860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+56</a:t>
            </a:r>
          </a:p>
        </p:txBody>
      </p:sp>
      <p:sp>
        <p:nvSpPr>
          <p:cNvPr id="6" name="">
            <a:extLst xmlns:a="http://schemas.openxmlformats.org/drawingml/2006/main">
              <a:ext uri="{FF2B5EF4-FFF2-40B4-BE49-F238E27FC236}">
                <a16:creationId xmlns:a16="http://schemas.microsoft.com/office/drawing/2014/main" id="{5F74366A-DB75-48DB-B120-B922D2D75D7D}"/>
              </a:ext>
            </a:extLst>
          </p:cNvPr>
          <p:cNvSpPr>
            <a:spLocks xmlns:a="http://schemas.openxmlformats.org/drawingml/2006/main" noGrp="1"/>
          </p:cNvSpPr>
          <p:nvPr/>
        </p:nvSpPr>
        <p:spPr>
          <a:xfrm xmlns:a="http://schemas.openxmlformats.org/drawingml/2006/main">
            <a:off x="8905875" y="3162300"/>
            <a:ext cx="2686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Parámetros FDMLP</a:t>
            </a:r>
          </a:p>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frente a LSTM</a:t>
            </a:r>
          </a:p>
        </p:txBody>
      </p:sp>
      <p:sp>
        <p:nvSpPr>
          <p:cNvPr id="7" name="">
            <a:extLst xmlns:a="http://schemas.openxmlformats.org/drawingml/2006/main">
              <a:ext uri="{FF2B5EF4-FFF2-40B4-BE49-F238E27FC236}">
                <a16:creationId xmlns:a16="http://schemas.microsoft.com/office/drawing/2014/main" id="{83F1D6D8-61B6-4CC0-A9F0-0A41BDC467FA}"/>
              </a:ext>
            </a:extLst>
          </p:cNvPr>
          <p:cNvSpPr>
            <a:spLocks xmlns:a="http://schemas.openxmlformats.org/drawingml/2006/main" noGrp="1"/>
          </p:cNvSpPr>
          <p:nvPr/>
        </p:nvSpPr>
        <p:spPr>
          <a:xfrm xmlns:a="http://schemas.openxmlformats.org/drawingml/2006/main">
            <a:off x="723900" y="58388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7D"/>
                </a:solidFill>
                <a:latin typeface="Arial"/>
                <a:ea typeface="Arial"/>
                <a:cs typeface="Arial"/>
              </a:defRPr>
            </a:pPr>
            <a:r>
              <a:rPr sz="1800" b="0">
                <a:solidFill>
                  <a:srgbClr val="60717D"/>
                </a:solidFill>
                <a:latin typeface="Arial"/>
                <a:ea typeface="Arial"/>
                <a:cs typeface="Arial"/>
              </a:rPr>
              <a:t>Inferencia · ms por lote de 64 · misma GPU</a:t>
            </a:r>
          </a:p>
        </p:txBody>
      </p:sp>
    </p:spTree>
    <p:extLst>
      <p:ext uri="{BB962C8B-B14F-4D97-AF65-F5344CB8AC3E}">
        <p14:creationId xmlns:p14="http://schemas.microsoft.com/office/powerpoint/2010/main" val="13176435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AA7D25-4C3B-4F6C-8D23-6475CC47EEAA}"/>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El ranking cambia respecto al paper</a:t>
            </a:r>
          </a:p>
        </p:txBody>
      </p:sp>
      <p:sp>
        <p:nvSpPr>
          <p:cNvPr id="2" name="">
            <a:extLst xmlns:a="http://schemas.openxmlformats.org/drawingml/2006/main">
              <a:ext uri="{FF2B5EF4-FFF2-40B4-BE49-F238E27FC236}">
                <a16:creationId xmlns:a16="http://schemas.microsoft.com/office/drawing/2014/main" id="{30EEA92F-0639-4DF2-867B-B54BDA641473}"/>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8AE46C7A-8391-4419-AAF5-9C4A8AF0D04F}"/>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B7894440-9CBB-4A78-A253-2D722D082BD7}"/>
              </a:ext>
            </a:extLst>
          </p:cNvPr>
          <p:cNvSpPr>
            <a:spLocks xmlns:a="http://schemas.openxmlformats.org/drawingml/2006/main" noGrp="1"/>
          </p:cNvSpPr>
          <p:nvPr/>
        </p:nvSpPr>
        <p:spPr>
          <a:xfrm xmlns:a="http://schemas.openxmlformats.org/drawingml/2006/main">
            <a:off x="723900" y="17430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60717D"/>
                </a:solidFill>
                <a:latin typeface="Arial"/>
                <a:ea typeface="Arial"/>
                <a:cs typeface="Arial"/>
              </a:defRPr>
            </a:pPr>
            <a:r>
              <a:rPr sz="2850" b="1">
                <a:solidFill>
                  <a:srgbClr val="60717D"/>
                </a:solidFill>
                <a:latin typeface="Arial"/>
                <a:ea typeface="Arial"/>
                <a:cs typeface="Arial"/>
              </a:rPr>
              <a:t>Paper</a:t>
            </a:r>
          </a:p>
        </p:txBody>
      </p:sp>
      <p:sp>
        <p:nvSpPr>
          <p:cNvPr id="5" name="">
            <a:extLst xmlns:a="http://schemas.openxmlformats.org/drawingml/2006/main">
              <a:ext uri="{FF2B5EF4-FFF2-40B4-BE49-F238E27FC236}">
                <a16:creationId xmlns:a16="http://schemas.microsoft.com/office/drawing/2014/main" id="{E3751639-DB78-45CD-B690-95386BA603DF}"/>
              </a:ext>
            </a:extLst>
          </p:cNvPr>
          <p:cNvSpPr>
            <a:spLocks xmlns:a="http://schemas.openxmlformats.org/drawingml/2006/main" noGrp="1"/>
          </p:cNvSpPr>
          <p:nvPr/>
        </p:nvSpPr>
        <p:spPr>
          <a:xfrm xmlns:a="http://schemas.openxmlformats.org/drawingml/2006/main">
            <a:off x="723900" y="2476500"/>
            <a:ext cx="51911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7 de 9</a:t>
            </a:r>
          </a:p>
        </p:txBody>
      </p:sp>
      <p:sp>
        <p:nvSpPr>
          <p:cNvPr id="6" name="">
            <a:extLst xmlns:a="http://schemas.openxmlformats.org/drawingml/2006/main">
              <a:ext uri="{FF2B5EF4-FFF2-40B4-BE49-F238E27FC236}">
                <a16:creationId xmlns:a16="http://schemas.microsoft.com/office/drawing/2014/main" id="{6B7A6D93-B7B0-434D-9280-97A2BD1CAD89}"/>
              </a:ext>
            </a:extLst>
          </p:cNvPr>
          <p:cNvSpPr>
            <a:spLocks xmlns:a="http://schemas.openxmlformats.org/drawingml/2006/main" noGrp="1"/>
          </p:cNvSpPr>
          <p:nvPr/>
        </p:nvSpPr>
        <p:spPr>
          <a:xfrm xmlns:a="http://schemas.openxmlformats.org/drawingml/2006/main">
            <a:off x="723900" y="3448050"/>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Casos ganados por FDMLP</a:t>
            </a:r>
          </a:p>
        </p:txBody>
      </p:sp>
      <p:sp>
        <p:nvSpPr>
          <p:cNvPr id="7" name="">
            <a:extLst xmlns:a="http://schemas.openxmlformats.org/drawingml/2006/main">
              <a:ext uri="{FF2B5EF4-FFF2-40B4-BE49-F238E27FC236}">
                <a16:creationId xmlns:a16="http://schemas.microsoft.com/office/drawing/2014/main" id="{145278DD-6740-4B80-8A41-FE5896DA266D}"/>
              </a:ext>
            </a:extLst>
          </p:cNvPr>
          <p:cNvSpPr>
            <a:spLocks xmlns:a="http://schemas.openxmlformats.org/drawingml/2006/main" noGrp="1"/>
          </p:cNvSpPr>
          <p:nvPr/>
        </p:nvSpPr>
        <p:spPr>
          <a:xfrm xmlns:a="http://schemas.openxmlformats.org/drawingml/2006/main">
            <a:off x="6819900" y="1743075"/>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60717D"/>
                </a:solidFill>
                <a:latin typeface="Arial"/>
                <a:ea typeface="Arial"/>
                <a:cs typeface="Arial"/>
              </a:defRPr>
            </a:pPr>
            <a:r>
              <a:rPr sz="2850" b="1">
                <a:solidFill>
                  <a:srgbClr val="60717D"/>
                </a:solidFill>
                <a:latin typeface="Arial"/>
                <a:ea typeface="Arial"/>
                <a:cs typeface="Arial"/>
              </a:rPr>
              <a:t>Nuestro dataset</a:t>
            </a:r>
          </a:p>
        </p:txBody>
      </p:sp>
      <p:sp>
        <p:nvSpPr>
          <p:cNvPr id="8" name="">
            <a:extLst xmlns:a="http://schemas.openxmlformats.org/drawingml/2006/main">
              <a:ext uri="{FF2B5EF4-FFF2-40B4-BE49-F238E27FC236}">
                <a16:creationId xmlns:a16="http://schemas.microsoft.com/office/drawing/2014/main" id="{AB60098B-5E01-43D8-B25F-FC6D02F82CF8}"/>
              </a:ext>
            </a:extLst>
          </p:cNvPr>
          <p:cNvSpPr>
            <a:spLocks xmlns:a="http://schemas.openxmlformats.org/drawingml/2006/main" noGrp="1"/>
          </p:cNvSpPr>
          <p:nvPr/>
        </p:nvSpPr>
        <p:spPr>
          <a:xfrm xmlns:a="http://schemas.openxmlformats.org/drawingml/2006/main">
            <a:off x="6819900" y="2552700"/>
            <a:ext cx="4667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LSTM</a:t>
            </a:r>
          </a:p>
        </p:txBody>
      </p:sp>
      <p:sp>
        <p:nvSpPr>
          <p:cNvPr id="9" name="">
            <a:extLst xmlns:a="http://schemas.openxmlformats.org/drawingml/2006/main">
              <a:ext uri="{FF2B5EF4-FFF2-40B4-BE49-F238E27FC236}">
                <a16:creationId xmlns:a16="http://schemas.microsoft.com/office/drawing/2014/main" id="{547D0356-1087-4E95-B56C-8DF81D7140A1}"/>
              </a:ext>
            </a:extLst>
          </p:cNvPr>
          <p:cNvSpPr>
            <a:spLocks xmlns:a="http://schemas.openxmlformats.org/drawingml/2006/main" noGrp="1"/>
          </p:cNvSpPr>
          <p:nvPr/>
        </p:nvSpPr>
        <p:spPr>
          <a:xfrm xmlns:a="http://schemas.openxmlformats.org/drawingml/2006/main">
            <a:off x="6819900" y="352425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Menor RMSE global a 48 h</a:t>
            </a:r>
          </a:p>
        </p:txBody>
      </p:sp>
      <p:sp>
        <p:nvSpPr>
          <p:cNvPr id="10" name="">
            <a:extLst xmlns:a="http://schemas.openxmlformats.org/drawingml/2006/main">
              <a:ext uri="{FF2B5EF4-FFF2-40B4-BE49-F238E27FC236}">
                <a16:creationId xmlns:a16="http://schemas.microsoft.com/office/drawing/2014/main" id="{DE52982C-A55C-4F36-AAFD-436E74B63ADC}"/>
              </a:ext>
            </a:extLst>
          </p:cNvPr>
          <p:cNvSpPr>
            <a:spLocks xmlns:a="http://schemas.openxmlformats.org/drawingml/2006/main" noGrp="1"/>
          </p:cNvSpPr>
          <p:nvPr/>
        </p:nvSpPr>
        <p:spPr>
          <a:xfrm xmlns:a="http://schemas.openxmlformats.org/drawingml/2006/main">
            <a:off x="723900" y="5372100"/>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448"/>
                </a:solidFill>
                <a:latin typeface="Arial"/>
                <a:ea typeface="Arial"/>
                <a:cs typeface="Arial"/>
              </a:defRPr>
            </a:pPr>
            <a:r>
              <a:rPr sz="2550" b="1">
                <a:solidFill>
                  <a:srgbClr val="173448"/>
                </a:solidFill>
                <a:latin typeface="Arial"/>
                <a:ea typeface="Arial"/>
                <a:cs typeface="Arial"/>
              </a:rPr>
              <a:t>Datos, unidades y horizontes diferentes</a:t>
            </a:r>
          </a:p>
        </p:txBody>
      </p:sp>
    </p:spTree>
    <p:extLst>
      <p:ext uri="{BB962C8B-B14F-4D97-AF65-F5344CB8AC3E}">
        <p14:creationId xmlns:p14="http://schemas.microsoft.com/office/powerpoint/2010/main" val="5439801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A342B0-CF49-4D6A-81CC-DCD97BF95C52}"/>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Conclusiones y alcance</a:t>
            </a:r>
          </a:p>
        </p:txBody>
      </p:sp>
      <p:sp>
        <p:nvSpPr>
          <p:cNvPr id="2" name="">
            <a:extLst xmlns:a="http://schemas.openxmlformats.org/drawingml/2006/main">
              <a:ext uri="{FF2B5EF4-FFF2-40B4-BE49-F238E27FC236}">
                <a16:creationId xmlns:a16="http://schemas.microsoft.com/office/drawing/2014/main" id="{A31481C4-0092-4306-BD93-E9A4C2469897}"/>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Resultados · 3/3</a:t>
            </a:r>
          </a:p>
        </p:txBody>
      </p:sp>
      <p:sp>
        <p:nvSpPr>
          <p:cNvPr id="3" name="">
            <a:extLst xmlns:a="http://schemas.openxmlformats.org/drawingml/2006/main">
              <a:ext uri="{FF2B5EF4-FFF2-40B4-BE49-F238E27FC236}">
                <a16:creationId xmlns:a16="http://schemas.microsoft.com/office/drawing/2014/main" id="{7A44F3CF-B5EB-4C2B-B381-96AB1AC948CC}"/>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F2625097-8A63-4CBE-8029-5C6BCE22CDE9}"/>
              </a:ext>
            </a:extLst>
          </p:cNvPr>
          <p:cNvSpPr>
            <a:spLocks xmlns:a="http://schemas.openxmlformats.org/drawingml/2006/main" noGrp="1"/>
          </p:cNvSpPr>
          <p:nvPr/>
        </p:nvSpPr>
        <p:spPr>
          <a:xfrm xmlns:a="http://schemas.openxmlformats.org/drawingml/2006/main">
            <a:off x="723900" y="16668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Cinco originales</a:t>
            </a:r>
          </a:p>
        </p:txBody>
      </p:sp>
      <p:sp>
        <p:nvSpPr>
          <p:cNvPr id="5" name="">
            <a:extLst xmlns:a="http://schemas.openxmlformats.org/drawingml/2006/main">
              <a:ext uri="{FF2B5EF4-FFF2-40B4-BE49-F238E27FC236}">
                <a16:creationId xmlns:a16="http://schemas.microsoft.com/office/drawing/2014/main" id="{15C7E96F-057D-4774-873D-84DA02A21C59}"/>
              </a:ext>
            </a:extLst>
          </p:cNvPr>
          <p:cNvSpPr>
            <a:spLocks xmlns:a="http://schemas.openxmlformats.org/drawingml/2006/main" noGrp="1"/>
          </p:cNvSpPr>
          <p:nvPr/>
        </p:nvSpPr>
        <p:spPr>
          <a:xfrm xmlns:a="http://schemas.openxmlformats.org/drawingml/2006/main">
            <a:off x="3810000" y="16668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LSTM lidera el RMSE global a 48 h</a:t>
            </a:r>
          </a:p>
        </p:txBody>
      </p:sp>
      <p:sp>
        <p:nvSpPr>
          <p:cNvPr id="6" name="">
            <a:extLst xmlns:a="http://schemas.openxmlformats.org/drawingml/2006/main">
              <a:ext uri="{FF2B5EF4-FFF2-40B4-BE49-F238E27FC236}">
                <a16:creationId xmlns:a16="http://schemas.microsoft.com/office/drawing/2014/main" id="{4890D139-88D8-4CEF-8EB7-AA95D3CE5D76}"/>
              </a:ext>
            </a:extLst>
          </p:cNvPr>
          <p:cNvSpPr>
            <a:spLocks xmlns:a="http://schemas.openxmlformats.org/drawingml/2006/main" noGrp="1"/>
          </p:cNvSpPr>
          <p:nvPr/>
        </p:nvSpPr>
        <p:spPr>
          <a:xfrm xmlns:a="http://schemas.openxmlformats.org/drawingml/2006/main">
            <a:off x="723900" y="26384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Control residual</a:t>
            </a:r>
          </a:p>
        </p:txBody>
      </p:sp>
      <p:sp>
        <p:nvSpPr>
          <p:cNvPr id="7" name="">
            <a:extLst xmlns:a="http://schemas.openxmlformats.org/drawingml/2006/main">
              <a:ext uri="{FF2B5EF4-FFF2-40B4-BE49-F238E27FC236}">
                <a16:creationId xmlns:a16="http://schemas.microsoft.com/office/drawing/2014/main" id="{5D458FA7-56D5-4AC5-AC43-376FE1B530A7}"/>
              </a:ext>
            </a:extLst>
          </p:cNvPr>
          <p:cNvSpPr>
            <a:spLocks xmlns:a="http://schemas.openxmlformats.org/drawingml/2006/main" noGrp="1"/>
          </p:cNvSpPr>
          <p:nvPr/>
        </p:nvSpPr>
        <p:spPr>
          <a:xfrm xmlns:a="http://schemas.openxmlformats.org/drawingml/2006/main">
            <a:off x="3810000" y="26384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FDMLP: −0,37% de RMSE frente al original</a:t>
            </a:r>
          </a:p>
        </p:txBody>
      </p:sp>
      <p:sp>
        <p:nvSpPr>
          <p:cNvPr id="8" name="">
            <a:extLst xmlns:a="http://schemas.openxmlformats.org/drawingml/2006/main">
              <a:ext uri="{FF2B5EF4-FFF2-40B4-BE49-F238E27FC236}">
                <a16:creationId xmlns:a16="http://schemas.microsoft.com/office/drawing/2014/main" id="{E8EF1AB6-23A8-4AD6-9667-34190D3F0855}"/>
              </a:ext>
            </a:extLst>
          </p:cNvPr>
          <p:cNvSpPr>
            <a:spLocks xmlns:a="http://schemas.openxmlformats.org/drawingml/2006/main" noGrp="1"/>
          </p:cNvSpPr>
          <p:nvPr/>
        </p:nvSpPr>
        <p:spPr>
          <a:xfrm xmlns:a="http://schemas.openxmlformats.org/drawingml/2006/main">
            <a:off x="723900" y="360997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Límites</a:t>
            </a:r>
          </a:p>
        </p:txBody>
      </p:sp>
      <p:sp>
        <p:nvSpPr>
          <p:cNvPr id="9" name="">
            <a:extLst xmlns:a="http://schemas.openxmlformats.org/drawingml/2006/main">
              <a:ext uri="{FF2B5EF4-FFF2-40B4-BE49-F238E27FC236}">
                <a16:creationId xmlns:a16="http://schemas.microsoft.com/office/drawing/2014/main" id="{4A0D1708-F950-4BAC-B839-E53E0D2E309B}"/>
              </a:ext>
            </a:extLst>
          </p:cNvPr>
          <p:cNvSpPr>
            <a:spLocks xmlns:a="http://schemas.openxmlformats.org/drawingml/2006/main" noGrp="1"/>
          </p:cNvSpPr>
          <p:nvPr/>
        </p:nvSpPr>
        <p:spPr>
          <a:xfrm xmlns:a="http://schemas.openxmlformats.org/drawingml/2006/main">
            <a:off x="3810000" y="360997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Una semilla · sin fechas · sin métricas de test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bf1b58292634191"/>
          <a:stretch xmlns:a="http://schemas.openxmlformats.org/drawingml/2006/main"/>
        </p:blipFill>
        <p:spPr>
          <a:xfrm xmlns:a="http://schemas.openxmlformats.org/drawingml/2006/main">
            <a:off x="752475" y="5067300"/>
            <a:ext cx="723900" cy="72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209869F-15A4-452C-9F99-3E20B64834F1}"/>
              </a:ext>
            </a:extLst>
          </p:cNvPr>
          <p:cNvSpPr>
            <a:spLocks xmlns:a="http://schemas.openxmlformats.org/drawingml/2006/main" noGrp="1"/>
          </p:cNvSpPr>
          <p:nvPr/>
        </p:nvSpPr>
        <p:spPr>
          <a:xfrm xmlns:a="http://schemas.openxmlformats.org/drawingml/2006/main">
            <a:off x="1809750" y="5172075"/>
            <a:ext cx="9620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0"/>
                </a:solidFill>
                <a:latin typeface="Arial"/>
                <a:ea typeface="Arial"/>
                <a:cs typeface="Arial"/>
              </a:defRPr>
            </a:pPr>
            <a:r>
              <a:rPr sz="2475" b="1">
                <a:solidFill>
                  <a:srgbClr val="007F80"/>
                </a:solidFill>
                <a:latin typeface="Arial"/>
                <a:ea typeface="Arial"/>
                <a:cs typeface="Arial"/>
              </a:rPr>
              <a:t>27.983 predicciones de test por modelo</a:t>
            </a:r>
          </a:p>
        </p:txBody>
      </p:sp>
    </p:spTree>
    <p:extLst>
      <p:ext uri="{BB962C8B-B14F-4D97-AF65-F5344CB8AC3E}">
        <p14:creationId xmlns:p14="http://schemas.microsoft.com/office/powerpoint/2010/main" val="16647424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1516B1-F626-4DA2-BE1D-9E9BE051F83F}"/>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Sensibilidad frecuencial</a:t>
            </a:r>
          </a:p>
        </p:txBody>
      </p:sp>
      <p:sp>
        <p:nvSpPr>
          <p:cNvPr id="2" name="">
            <a:extLst xmlns:a="http://schemas.openxmlformats.org/drawingml/2006/main">
              <a:ext uri="{FF2B5EF4-FFF2-40B4-BE49-F238E27FC236}">
                <a16:creationId xmlns:a16="http://schemas.microsoft.com/office/drawing/2014/main" id="{67A07108-AB21-427C-8922-9EA4CC028868}"/>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Apoyo · preguntas</a:t>
            </a:r>
          </a:p>
        </p:txBody>
      </p:sp>
      <p:sp>
        <p:nvSpPr>
          <p:cNvPr id="3" name="">
            <a:extLst xmlns:a="http://schemas.openxmlformats.org/drawingml/2006/main">
              <a:ext uri="{FF2B5EF4-FFF2-40B4-BE49-F238E27FC236}">
                <a16:creationId xmlns:a16="http://schemas.microsoft.com/office/drawing/2014/main" id="{0CA6A837-6782-4479-8E78-E607ADC61391}"/>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19</a:t>
            </a:r>
          </a:p>
        </p:txBody>
      </p:sp>
      <p:graphicFrame>
        <p:nvGraphicFramePr>
          <p:cNvPr id="9" name="Chart"/>
          <p:cNvGraphicFramePr/>
          <p:nvPr/>
        </p:nvGraphicFramePr>
        <p:xfrm>
          <a:off xmlns:a="http://schemas.openxmlformats.org/drawingml/2006/main" x="619125" y="1695450"/>
          <a:ext xmlns:a="http://schemas.openxmlformats.org/drawingml/2006/main" cx="10953750" cy="3905250"/>
        </p:xfrm>
        <a:graphic xmlns:a="http://schemas.openxmlformats.org/drawingml/2006/main">
          <a:graphicData uri="http://schemas.openxmlformats.org/drawingml/2006/chart">
            <c:chart xmlns:r="http://schemas.openxmlformats.org/officeDocument/2006/relationships" xmlns:c="http://schemas.openxmlformats.org/drawingml/2006/chart" r:id="R0fdb38855e8a47e6"/>
          </a:graphicData>
        </a:graphic>
      </p:graphicFrame>
      <p:sp>
        <p:nvSpPr>
          <p:cNvPr id="5" name="">
            <a:extLst xmlns:a="http://schemas.openxmlformats.org/drawingml/2006/main">
              <a:ext uri="{FF2B5EF4-FFF2-40B4-BE49-F238E27FC236}">
                <a16:creationId xmlns:a16="http://schemas.microsoft.com/office/drawing/2014/main" id="{FE7CC914-B6DC-4967-9EBF-3898311F922A}"/>
              </a:ext>
            </a:extLst>
          </p:cNvPr>
          <p:cNvSpPr>
            <a:spLocks xmlns:a="http://schemas.openxmlformats.org/drawingml/2006/main" noGrp="1"/>
          </p:cNvSpPr>
          <p:nvPr/>
        </p:nvSpPr>
        <p:spPr>
          <a:xfrm xmlns:a="http://schemas.openxmlformats.org/drawingml/2006/main">
            <a:off x="723900" y="58388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0717D"/>
                </a:solidFill>
                <a:latin typeface="Arial"/>
                <a:ea typeface="Arial"/>
                <a:cs typeface="Arial"/>
              </a:defRPr>
            </a:pPr>
            <a:r>
              <a:rPr sz="1875" b="0">
                <a:solidFill>
                  <a:srgbClr val="60717D"/>
                </a:solidFill>
                <a:latin typeface="Arial"/>
                <a:ea typeface="Arial"/>
                <a:cs typeface="Arial"/>
              </a:rPr>
              <a:t>7 componentes · mayor sensibilidad en el bin 3</a:t>
            </a:r>
          </a:p>
        </p:txBody>
      </p:sp>
    </p:spTree>
    <p:extLst>
      <p:ext uri="{BB962C8B-B14F-4D97-AF65-F5344CB8AC3E}">
        <p14:creationId xmlns:p14="http://schemas.microsoft.com/office/powerpoint/2010/main" val="48470879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D69248-6578-4388-AE3B-F8F99500DA02}"/>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Los caudales extremos cambian el ranking</a:t>
            </a:r>
          </a:p>
        </p:txBody>
      </p:sp>
      <p:sp>
        <p:nvSpPr>
          <p:cNvPr id="2" name="">
            <a:extLst xmlns:a="http://schemas.openxmlformats.org/drawingml/2006/main">
              <a:ext uri="{FF2B5EF4-FFF2-40B4-BE49-F238E27FC236}">
                <a16:creationId xmlns:a16="http://schemas.microsoft.com/office/drawing/2014/main" id="{422F48AF-0689-4045-AA45-3CD2D08F214C}"/>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Apoyo · preguntas</a:t>
            </a:r>
          </a:p>
        </p:txBody>
      </p:sp>
      <p:sp>
        <p:nvSpPr>
          <p:cNvPr id="3" name="">
            <a:extLst xmlns:a="http://schemas.openxmlformats.org/drawingml/2006/main">
              <a:ext uri="{FF2B5EF4-FFF2-40B4-BE49-F238E27FC236}">
                <a16:creationId xmlns:a16="http://schemas.microsoft.com/office/drawing/2014/main" id="{8B2345DC-5A66-457F-A45E-DA0E00E582F2}"/>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20</a:t>
            </a:r>
          </a:p>
        </p:txBody>
      </p:sp>
      <p:graphicFrame>
        <p:nvGraphicFramePr>
          <p:cNvPr id="9" name="Chart"/>
          <p:cNvGraphicFramePr/>
          <p:nvPr/>
        </p:nvGraphicFramePr>
        <p:xfrm>
          <a:off xmlns:a="http://schemas.openxmlformats.org/drawingml/2006/main" x="619125" y="1714500"/>
          <a:ext xmlns:a="http://schemas.openxmlformats.org/drawingml/2006/main" cx="10953750" cy="3895725"/>
        </p:xfrm>
        <a:graphic xmlns:a="http://schemas.openxmlformats.org/drawingml/2006/main">
          <a:graphicData uri="http://schemas.openxmlformats.org/drawingml/2006/chart">
            <c:chart xmlns:r="http://schemas.openxmlformats.org/officeDocument/2006/relationships" xmlns:c="http://schemas.openxmlformats.org/drawingml/2006/chart" r:id="R75ac7fe797204961"/>
          </a:graphicData>
        </a:graphic>
      </p:graphicFrame>
      <p:sp>
        <p:nvSpPr>
          <p:cNvPr id="5" name="">
            <a:extLst xmlns:a="http://schemas.openxmlformats.org/drawingml/2006/main">
              <a:ext uri="{FF2B5EF4-FFF2-40B4-BE49-F238E27FC236}">
                <a16:creationId xmlns:a16="http://schemas.microsoft.com/office/drawing/2014/main" id="{809A87CB-A806-4B20-A03B-DAEB65CD1A4C}"/>
              </a:ext>
            </a:extLst>
          </p:cNvPr>
          <p:cNvSpPr>
            <a:spLocks xmlns:a="http://schemas.openxmlformats.org/drawingml/2006/main" noGrp="1"/>
          </p:cNvSpPr>
          <p:nvPr/>
        </p:nvSpPr>
        <p:spPr>
          <a:xfrm xmlns:a="http://schemas.openxmlformats.org/drawingml/2006/main">
            <a:off x="723900" y="58388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7D"/>
                </a:solidFill>
                <a:latin typeface="Arial"/>
                <a:ea typeface="Arial"/>
                <a:cs typeface="Arial"/>
              </a:defRPr>
            </a:pPr>
            <a:r>
              <a:rPr sz="1800" b="0">
                <a:solidFill>
                  <a:srgbClr val="60717D"/>
                </a:solidFill>
                <a:latin typeface="Arial"/>
                <a:ea typeface="Arial"/>
                <a:cs typeface="Arial"/>
              </a:rPr>
              <a:t>FHV: 2% superior    /    FLV: 30% inferior    /    Ideal: 0</a:t>
            </a:r>
          </a:p>
        </p:txBody>
      </p:sp>
    </p:spTree>
    <p:extLst>
      <p:ext uri="{BB962C8B-B14F-4D97-AF65-F5344CB8AC3E}">
        <p14:creationId xmlns:p14="http://schemas.microsoft.com/office/powerpoint/2010/main" val="12405497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AD99A3-2AF3-4A53-AC58-81A8A21C6CE9}"/>
              </a:ext>
            </a:extLst>
          </p:cNvPr>
          <p:cNvSpPr>
            <a:spLocks xmlns:a="http://schemas.openxmlformats.org/drawingml/2006/main" noGrp="1"/>
          </p:cNvSpPr>
          <p:nvPr/>
        </p:nvSpPr>
        <p:spPr>
          <a:xfrm xmlns:a="http://schemas.openxmlformats.org/drawingml/2006/main">
            <a:off x="609600" y="4381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448"/>
                </a:solidFill>
                <a:latin typeface="Arial"/>
                <a:ea typeface="Arial"/>
                <a:cs typeface="Arial"/>
              </a:defRPr>
            </a:pPr>
            <a:r>
              <a:rPr sz="3300" b="1">
                <a:solidFill>
                  <a:srgbClr val="173448"/>
                </a:solidFill>
                <a:latin typeface="Arial"/>
                <a:ea typeface="Arial"/>
                <a:cs typeface="Arial"/>
              </a:rPr>
              <a:t>Alcance de las nuevas comparaciones</a:t>
            </a:r>
          </a:p>
        </p:txBody>
      </p:sp>
      <p:sp>
        <p:nvSpPr>
          <p:cNvPr id="2" name="">
            <a:extLst xmlns:a="http://schemas.openxmlformats.org/drawingml/2006/main">
              <a:ext uri="{FF2B5EF4-FFF2-40B4-BE49-F238E27FC236}">
                <a16:creationId xmlns:a16="http://schemas.microsoft.com/office/drawing/2014/main" id="{B469D21C-704C-4AD5-B778-63CC3EDFCB64}"/>
              </a:ext>
            </a:extLst>
          </p:cNvPr>
          <p:cNvSpPr>
            <a:spLocks xmlns:a="http://schemas.openxmlformats.org/drawingml/2006/main" noGrp="1"/>
          </p:cNvSpPr>
          <p:nvPr/>
        </p:nvSpPr>
        <p:spPr>
          <a:xfrm xmlns:a="http://schemas.openxmlformats.org/drawingml/2006/main">
            <a:off x="609600" y="63912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D"/>
                </a:solidFill>
                <a:latin typeface="Arial"/>
                <a:ea typeface="Arial"/>
                <a:cs typeface="Arial"/>
              </a:defRPr>
            </a:pPr>
            <a:r>
              <a:rPr sz="1125" b="0">
                <a:solidFill>
                  <a:srgbClr val="60717D"/>
                </a:solidFill>
                <a:latin typeface="Arial"/>
                <a:ea typeface="Arial"/>
                <a:cs typeface="Arial"/>
              </a:rPr>
              <a:t>Apoyo · preguntas</a:t>
            </a:r>
          </a:p>
        </p:txBody>
      </p:sp>
      <p:sp>
        <p:nvSpPr>
          <p:cNvPr id="3" name="">
            <a:extLst xmlns:a="http://schemas.openxmlformats.org/drawingml/2006/main">
              <a:ext uri="{FF2B5EF4-FFF2-40B4-BE49-F238E27FC236}">
                <a16:creationId xmlns:a16="http://schemas.microsoft.com/office/drawing/2014/main" id="{7AA9A907-44FB-4D27-8B28-0664739F4D4C}"/>
              </a:ext>
            </a:extLst>
          </p:cNvPr>
          <p:cNvSpPr>
            <a:spLocks xmlns:a="http://schemas.openxmlformats.org/drawingml/2006/main" noGrp="1"/>
          </p:cNvSpPr>
          <p:nvPr/>
        </p:nvSpPr>
        <p:spPr>
          <a:xfrm xmlns:a="http://schemas.openxmlformats.org/drawingml/2006/main">
            <a:off x="11106150" y="63722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448"/>
                </a:solidFill>
                <a:latin typeface="Arial"/>
                <a:ea typeface="Arial"/>
                <a:cs typeface="Arial"/>
              </a:defRPr>
            </a:pPr>
            <a:r>
              <a:rPr sz="1200" b="0">
                <a:solidFill>
                  <a:srgbClr val="173448"/>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F401F0C0-C140-4EBC-B605-33C9E05A345C}"/>
              </a:ext>
            </a:extLst>
          </p:cNvPr>
          <p:cNvSpPr>
            <a:spLocks xmlns:a="http://schemas.openxmlformats.org/drawingml/2006/main" noGrp="1"/>
          </p:cNvSpPr>
          <p:nvPr/>
        </p:nvSpPr>
        <p:spPr>
          <a:xfrm xmlns:a="http://schemas.openxmlformats.org/drawingml/2006/main">
            <a:off x="723900" y="1666875"/>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DD940032-ABB8-49DB-B2B6-2CBCF1D2EF36}"/>
              </a:ext>
            </a:extLst>
          </p:cNvPr>
          <p:cNvSpPr>
            <a:spLocks xmlns:a="http://schemas.openxmlformats.org/drawingml/2006/main" noGrp="1"/>
          </p:cNvSpPr>
          <p:nvPr/>
        </p:nvSpPr>
        <p:spPr>
          <a:xfrm xmlns:a="http://schemas.openxmlformats.org/drawingml/2006/main">
            <a:off x="723900" y="26384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Parámetros del módulo FDMLP</a:t>
            </a:r>
          </a:p>
        </p:txBody>
      </p:sp>
      <p:sp>
        <p:nvSpPr>
          <p:cNvPr id="6" name="">
            <a:extLst xmlns:a="http://schemas.openxmlformats.org/drawingml/2006/main">
              <a:ext uri="{FF2B5EF4-FFF2-40B4-BE49-F238E27FC236}">
                <a16:creationId xmlns:a16="http://schemas.microsoft.com/office/drawing/2014/main" id="{031B9882-E0F3-47E5-990D-0A031B9E4EA5}"/>
              </a:ext>
            </a:extLst>
          </p:cNvPr>
          <p:cNvSpPr>
            <a:spLocks xmlns:a="http://schemas.openxmlformats.org/drawingml/2006/main" noGrp="1"/>
          </p:cNvSpPr>
          <p:nvPr/>
        </p:nvSpPr>
        <p:spPr>
          <a:xfrm xmlns:a="http://schemas.openxmlformats.org/drawingml/2006/main">
            <a:off x="6505575" y="1666875"/>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80"/>
                </a:solidFill>
                <a:latin typeface="Arial"/>
                <a:ea typeface="Arial"/>
                <a:cs typeface="Arial"/>
              </a:defRPr>
            </a:pPr>
            <a:r>
              <a:rPr sz="5700" b="1">
                <a:solidFill>
                  <a:srgbClr val="007F80"/>
                </a:solidFill>
                <a:latin typeface="Arial"/>
                <a:ea typeface="Arial"/>
                <a:cs typeface="Arial"/>
              </a:rPr>
              <a:t>312</a:t>
            </a:r>
          </a:p>
        </p:txBody>
      </p:sp>
      <p:sp>
        <p:nvSpPr>
          <p:cNvPr id="7" name="">
            <a:extLst xmlns:a="http://schemas.openxmlformats.org/drawingml/2006/main">
              <a:ext uri="{FF2B5EF4-FFF2-40B4-BE49-F238E27FC236}">
                <a16:creationId xmlns:a16="http://schemas.microsoft.com/office/drawing/2014/main" id="{3455F4B2-69B1-40D7-812D-06D1D5340C58}"/>
              </a:ext>
            </a:extLst>
          </p:cNvPr>
          <p:cNvSpPr>
            <a:spLocks xmlns:a="http://schemas.openxmlformats.org/drawingml/2006/main" noGrp="1"/>
          </p:cNvSpPr>
          <p:nvPr/>
        </p:nvSpPr>
        <p:spPr>
          <a:xfrm xmlns:a="http://schemas.openxmlformats.org/drawingml/2006/main">
            <a:off x="6505575" y="26384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48"/>
                </a:solidFill>
                <a:latin typeface="Arial"/>
                <a:ea typeface="Arial"/>
                <a:cs typeface="Arial"/>
              </a:defRPr>
            </a:pPr>
            <a:r>
              <a:rPr sz="1950" b="0">
                <a:solidFill>
                  <a:srgbClr val="173448"/>
                </a:solidFill>
                <a:latin typeface="Arial"/>
                <a:ea typeface="Arial"/>
                <a:cs typeface="Arial"/>
              </a:rPr>
              <a:t>Parámetros del módulo MLP</a:t>
            </a:r>
          </a:p>
        </p:txBody>
      </p:sp>
      <p:sp>
        <p:nvSpPr>
          <p:cNvPr id="8" name="">
            <a:extLst xmlns:a="http://schemas.openxmlformats.org/drawingml/2006/main">
              <a:ext uri="{FF2B5EF4-FFF2-40B4-BE49-F238E27FC236}">
                <a16:creationId xmlns:a16="http://schemas.microsoft.com/office/drawing/2014/main" id="{E3CCAD6A-E1B4-457E-B029-93A19B56E09E}"/>
              </a:ext>
            </a:extLst>
          </p:cNvPr>
          <p:cNvSpPr>
            <a:spLocks xmlns:a="http://schemas.openxmlformats.org/drawingml/2006/main" noGrp="1"/>
          </p:cNvSpPr>
          <p:nvPr/>
        </p:nvSpPr>
        <p:spPr>
          <a:xfrm xmlns:a="http://schemas.openxmlformats.org/drawingml/2006/main">
            <a:off x="723900" y="39338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Sin CReLU</a:t>
            </a:r>
          </a:p>
        </p:txBody>
      </p:sp>
      <p:sp>
        <p:nvSpPr>
          <p:cNvPr id="9" name="">
            <a:extLst xmlns:a="http://schemas.openxmlformats.org/drawingml/2006/main">
              <a:ext uri="{FF2B5EF4-FFF2-40B4-BE49-F238E27FC236}">
                <a16:creationId xmlns:a16="http://schemas.microsoft.com/office/drawing/2014/main" id="{4CA697EF-6B05-45C7-92AF-4E00A1C3AC4B}"/>
              </a:ext>
            </a:extLst>
          </p:cNvPr>
          <p:cNvSpPr>
            <a:spLocks xmlns:a="http://schemas.openxmlformats.org/drawingml/2006/main" noGrp="1"/>
          </p:cNvSpPr>
          <p:nvPr/>
        </p:nvSpPr>
        <p:spPr>
          <a:xfrm xmlns:a="http://schemas.openxmlformats.org/drawingml/2006/main">
            <a:off x="3810000" y="39338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Prueba el efecto de la activación</a:t>
            </a:r>
          </a:p>
        </p:txBody>
      </p:sp>
      <p:sp>
        <p:nvSpPr>
          <p:cNvPr id="10" name="">
            <a:extLst xmlns:a="http://schemas.openxmlformats.org/drawingml/2006/main">
              <a:ext uri="{FF2B5EF4-FFF2-40B4-BE49-F238E27FC236}">
                <a16:creationId xmlns:a16="http://schemas.microsoft.com/office/drawing/2014/main" id="{14B7EC21-F282-4BBE-BF63-7227D180C27F}"/>
              </a:ext>
            </a:extLst>
          </p:cNvPr>
          <p:cNvSpPr>
            <a:spLocks xmlns:a="http://schemas.openxmlformats.org/drawingml/2006/main" noGrp="1"/>
          </p:cNvSpPr>
          <p:nvPr/>
        </p:nvSpPr>
        <p:spPr>
          <a:xfrm xmlns:a="http://schemas.openxmlformats.org/drawingml/2006/main">
            <a:off x="723900" y="4810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0"/>
                </a:solidFill>
                <a:latin typeface="Arial"/>
                <a:ea typeface="Arial"/>
                <a:cs typeface="Arial"/>
              </a:defRPr>
            </a:pPr>
            <a:r>
              <a:rPr sz="2100" b="1">
                <a:solidFill>
                  <a:srgbClr val="007F80"/>
                </a:solidFill>
                <a:latin typeface="Arial"/>
                <a:ea typeface="Arial"/>
                <a:cs typeface="Arial"/>
              </a:rPr>
              <a:t>Residual</a:t>
            </a:r>
          </a:p>
        </p:txBody>
      </p:sp>
      <p:sp>
        <p:nvSpPr>
          <p:cNvPr id="11" name="">
            <a:extLst xmlns:a="http://schemas.openxmlformats.org/drawingml/2006/main">
              <a:ext uri="{FF2B5EF4-FFF2-40B4-BE49-F238E27FC236}">
                <a16:creationId xmlns:a16="http://schemas.microsoft.com/office/drawing/2014/main" id="{D6E59390-EE15-4A07-A911-24BCDC2BE1A0}"/>
              </a:ext>
            </a:extLst>
          </p:cNvPr>
          <p:cNvSpPr>
            <a:spLocks xmlns:a="http://schemas.openxmlformats.org/drawingml/2006/main" noGrp="1"/>
          </p:cNvSpPr>
          <p:nvPr/>
        </p:nvSpPr>
        <p:spPr>
          <a:xfrm xmlns:a="http://schemas.openxmlformats.org/drawingml/2006/main">
            <a:off x="3810000" y="4810125"/>
            <a:ext cx="752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448"/>
                </a:solidFill>
                <a:latin typeface="Arial"/>
                <a:ea typeface="Arial"/>
                <a:cs typeface="Arial"/>
              </a:defRPr>
            </a:pPr>
            <a:r>
              <a:rPr sz="2025" b="0">
                <a:solidFill>
                  <a:srgbClr val="173448"/>
                </a:solidFill>
                <a:latin typeface="Arial"/>
                <a:ea typeface="Arial"/>
                <a:cs typeface="Arial"/>
              </a:rPr>
              <a:t>Evalúa camino directo + inicialización</a:t>
            </a:r>
          </a:p>
        </p:txBody>
      </p:sp>
      <p:sp>
        <p:nvSpPr>
          <p:cNvPr id="12" name="">
            <a:extLst xmlns:a="http://schemas.openxmlformats.org/drawingml/2006/main">
              <a:ext uri="{FF2B5EF4-FFF2-40B4-BE49-F238E27FC236}">
                <a16:creationId xmlns:a16="http://schemas.microsoft.com/office/drawing/2014/main" id="{5A5E1CBB-93A1-429F-9018-6E1BAB120630}"/>
              </a:ext>
            </a:extLst>
          </p:cNvPr>
          <p:cNvSpPr>
            <a:spLocks xmlns:a="http://schemas.openxmlformats.org/drawingml/2006/main" noGrp="1"/>
          </p:cNvSpPr>
          <p:nvPr/>
        </p:nvSpPr>
        <p:spPr>
          <a:xfrm xmlns:a="http://schemas.openxmlformats.org/drawingml/2006/main">
            <a:off x="723900" y="57912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0717D"/>
                </a:solidFill>
                <a:latin typeface="Arial"/>
                <a:ea typeface="Arial"/>
                <a:cs typeface="Arial"/>
              </a:defRPr>
            </a:pPr>
            <a:r>
              <a:rPr sz="1800" b="0">
                <a:solidFill>
                  <a:srgbClr val="60717D"/>
                </a:solidFill>
                <a:latin typeface="Arial"/>
                <a:ea typeface="Arial"/>
                <a:cs typeface="Arial"/>
              </a:rPr>
              <a:t>La comparación no aísla exclusivamente la base de Fourier</a:t>
            </a:r>
          </a:p>
        </p:txBody>
      </p:sp>
    </p:spTree>
    <p:extLst>
      <p:ext uri="{BB962C8B-B14F-4D97-AF65-F5344CB8AC3E}">
        <p14:creationId xmlns:p14="http://schemas.microsoft.com/office/powerpoint/2010/main" val="1273054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2026-09-25T15:24:59.1410000Z</dcterms:created>
  <dcterms:modified xsi:type="dcterms:W3CDTF">2026-09-25T15:24:59.1420000Z</dcterms:modified>
</coreProperties>
</file>